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6nFrc866z8+tIouoCY0pYWUOH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Recovered</c:v>
                </c:pt>
              </c:strCache>
            </c:strRef>
          </c:tx>
          <c:spPr>
            <a:solidFill>
              <a:srgbClr val="1F7A4D"/>
            </a:solidFill>
            <a:effectLst/>
          </c:spPr>
          <c:invertIfNegative val="0"/>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cat>
            <c:multiLvlStrRef>
              <c:f>Sheet1!$A$2:$A$7</c:f>
              <c:multiLvlStrCache>
                <c:ptCount val="6"/>
                <c:lvl>
                  <c:pt idx="0">
                    <c:v>Sentinel-RX</c:v>
                  </c:pt>
                  <c:pt idx="1">
                    <c:v>Runbook</c:v>
                  </c:pt>
                  <c:pt idx="2">
                    <c:v>Single-shot LLM</c:v>
                  </c:pt>
                  <c:pt idx="3">
                    <c:v>LLM-only loop</c:v>
                  </c:pt>
                  <c:pt idx="4">
                    <c:v>Do nothing</c:v>
                  </c:pt>
                  <c:pt idx="5">
                    <c:v>Random</c:v>
                  </c:pt>
                </c:lvl>
              </c:multiLvlStrCache>
            </c:multiLvlStrRef>
          </c:cat>
          <c:val>
            <c:numRef>
              <c:f>Sheet1!$B$2:$B$7</c:f>
              <c:numCache>
                <c:formatCode>General</c:formatCode>
                <c:ptCount val="6"/>
                <c:pt idx="0">
                  <c:v>100</c:v>
                </c:pt>
                <c:pt idx="1">
                  <c:v>45</c:v>
                </c:pt>
                <c:pt idx="2">
                  <c:v>30</c:v>
                </c:pt>
                <c:pt idx="3">
                  <c:v>35</c:v>
                </c:pt>
                <c:pt idx="4">
                  <c:v>0</c:v>
                </c:pt>
                <c:pt idx="5">
                  <c:v>0</c:v>
                </c:pt>
              </c:numCache>
            </c:numRef>
          </c:val>
        </c:ser>
        <c:ser>
          <c:idx val="1"/>
          <c:order val="1"/>
          <c:tx>
            <c:strRef>
              <c:f>Sheet1!$C$1</c:f>
              <c:strCache>
                <c:ptCount val="1"/>
                <c:pt idx="0">
                  <c:v>Correct root cause (top-1)</c:v>
                </c:pt>
              </c:strCache>
            </c:strRef>
          </c:tx>
          <c:spPr>
            <a:solidFill>
              <a:srgbClr val="6FBF73"/>
            </a:solidFill>
            <a:effectLst/>
          </c:spPr>
          <c:invertIfNegative val="0"/>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cat>
            <c:multiLvlStrRef>
              <c:f>Sheet1!$A$2:$A$7</c:f>
              <c:multiLvlStrCache>
                <c:ptCount val="6"/>
                <c:lvl>
                  <c:pt idx="0">
                    <c:v>Sentinel-RX</c:v>
                  </c:pt>
                  <c:pt idx="1">
                    <c:v>Runbook</c:v>
                  </c:pt>
                  <c:pt idx="2">
                    <c:v>Single-shot LLM</c:v>
                  </c:pt>
                  <c:pt idx="3">
                    <c:v>LLM-only loop</c:v>
                  </c:pt>
                  <c:pt idx="4">
                    <c:v>Do nothing</c:v>
                  </c:pt>
                  <c:pt idx="5">
                    <c:v>Random</c:v>
                  </c:pt>
                </c:lvl>
              </c:multiLvlStrCache>
            </c:multiLvlStrRef>
          </c:cat>
          <c:val>
            <c:numRef>
              <c:f>Sheet1!$C$2:$C$7</c:f>
              <c:numCache>
                <c:formatCode>General</c:formatCode>
                <c:ptCount val="6"/>
                <c:pt idx="0">
                  <c:v>92</c:v>
                </c:pt>
                <c:pt idx="1">
                  <c:v>87</c:v>
                </c:pt>
                <c:pt idx="2">
                  <c:v>63</c:v>
                </c:pt>
                <c:pt idx="3">
                  <c:v>35</c:v>
                </c:pt>
                <c:pt idx="4">
                  <c:v>0</c:v>
                </c:pt>
                <c:pt idx="5">
                  <c:v>0</c:v>
                </c:pt>
              </c:numCache>
            </c:numRef>
          </c:val>
        </c:ser>
        <c:ser>
          <c:idx val="2"/>
          <c:order val="2"/>
          <c:tx>
            <c:strRef>
              <c:f>Sheet1!$D$1</c:f>
              <c:strCache>
                <c:ptCount val="1"/>
                <c:pt idx="0">
                  <c:v>False “recovered” claims</c:v>
                </c:pt>
              </c:strCache>
            </c:strRef>
          </c:tx>
          <c:spPr>
            <a:solidFill>
              <a:srgbClr val="C9822B"/>
            </a:solidFill>
            <a:effectLst/>
          </c:spPr>
          <c:invertIfNegative val="0"/>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cat>
            <c:multiLvlStrRef>
              <c:f>Sheet1!$A$2:$A$7</c:f>
              <c:multiLvlStrCache>
                <c:ptCount val="6"/>
                <c:lvl>
                  <c:pt idx="0">
                    <c:v>Sentinel-RX</c:v>
                  </c:pt>
                  <c:pt idx="1">
                    <c:v>Runbook</c:v>
                  </c:pt>
                  <c:pt idx="2">
                    <c:v>Single-shot LLM</c:v>
                  </c:pt>
                  <c:pt idx="3">
                    <c:v>LLM-only loop</c:v>
                  </c:pt>
                  <c:pt idx="4">
                    <c:v>Do nothing</c:v>
                  </c:pt>
                  <c:pt idx="5">
                    <c:v>Random</c:v>
                  </c:pt>
                </c:lvl>
              </c:multiLvlStrCache>
            </c:multiLvlStrRef>
          </c:cat>
          <c:val>
            <c:numRef>
              <c:f>Sheet1!$D$2:$D$7</c:f>
              <c:numCache>
                <c:formatCode>General</c:formatCode>
                <c:ptCount val="6"/>
                <c:pt idx="0">
                  <c:v>0</c:v>
                </c:pt>
                <c:pt idx="1">
                  <c:v>5</c:v>
                </c:pt>
                <c:pt idx="2">
                  <c:v>70</c:v>
                </c:pt>
                <c:pt idx="3">
                  <c:v>15</c:v>
                </c:pt>
                <c:pt idx="4">
                  <c:v>0</c:v>
                </c:pt>
                <c:pt idx="5">
                  <c:v>10</c:v>
                </c:pt>
              </c:numCache>
            </c:numRef>
          </c:val>
        </c:ser>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5291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E6E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E6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9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D3B2A"/>
                </a:solidFill>
                <a:latin typeface="+mn-lt"/>
              </a:defRPr>
            </a:pPr>
            <a:r>
              <a:rPr sz="1400" b="0" i="0" u="none" strike="noStrike">
                <a:solidFill>
                  <a:srgbClr val="0D3B2A"/>
                </a:solidFill>
                <a:latin typeface="+mn-lt"/>
              </a:rPr>
              <a:t>Recovered, by number of concurrent faults</a:t>
            </a:r>
          </a:p>
        </c:rich>
      </c:tx>
      <c:layout/>
      <c:overlay val="0"/>
    </c:title>
    <c:autoTitleDeleted val="0"/>
    <c:plotArea>
      <c:layout/>
      <c:barChart>
        <c:barDir val="col"/>
        <c:grouping val="clustered"/>
        <c:varyColors val="0"/>
        <c:ser>
          <c:idx val="0"/>
          <c:order val="0"/>
          <c:tx>
            <c:strRef>
              <c:f>Sheet1!$B$1</c:f>
              <c:strCache>
                <c:ptCount val="1"/>
                <c:pt idx="0">
                  <c:v>Sentinel-RX</c:v>
                </c:pt>
              </c:strCache>
            </c:strRef>
          </c:tx>
          <c:spPr>
            <a:solidFill>
              <a:srgbClr val="1F7A4D"/>
            </a:solidFill>
            <a:effectLst/>
          </c:spPr>
          <c:invertIfNegative val="0"/>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cat>
            <c:multiLvlStrRef>
              <c:f>Sheet1!$A$2:$A$4</c:f>
              <c:multiLvlStrCache>
                <c:ptCount val="3"/>
                <c:lvl>
                  <c:pt idx="0">
                    <c:v>1 fault</c:v>
                  </c:pt>
                  <c:pt idx="1">
                    <c:v>2 faults</c:v>
                  </c:pt>
                  <c:pt idx="2">
                    <c:v>3 faults</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Runbook</c:v>
                </c:pt>
              </c:strCache>
            </c:strRef>
          </c:tx>
          <c:spPr>
            <a:solidFill>
              <a:srgbClr val="4F8A78"/>
            </a:solidFill>
            <a:effectLst/>
          </c:spPr>
          <c:invertIfNegative val="0"/>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cat>
            <c:multiLvlStrRef>
              <c:f>Sheet1!$A$2:$A$4</c:f>
              <c:multiLvlStrCache>
                <c:ptCount val="3"/>
                <c:lvl>
                  <c:pt idx="0">
                    <c:v>1 fault</c:v>
                  </c:pt>
                  <c:pt idx="1">
                    <c:v>2 faults</c:v>
                  </c:pt>
                  <c:pt idx="2">
                    <c:v>3 faults</c:v>
                  </c:pt>
                </c:lvl>
              </c:multiLvlStrCache>
            </c:multiLvlStrRef>
          </c:cat>
          <c:val>
            <c:numRef>
              <c:f>Sheet1!$C$2:$C$4</c:f>
              <c:numCache>
                <c:formatCode>General</c:formatCode>
                <c:ptCount val="3"/>
                <c:pt idx="0">
                  <c:v>75</c:v>
                </c:pt>
                <c:pt idx="1">
                  <c:v>37</c:v>
                </c:pt>
                <c:pt idx="2">
                  <c:v>38</c:v>
                </c:pt>
              </c:numCache>
            </c:numRef>
          </c:val>
        </c:ser>
        <c:ser>
          <c:idx val="2"/>
          <c:order val="2"/>
          <c:tx>
            <c:strRef>
              <c:f>Sheet1!$D$1</c:f>
              <c:strCache>
                <c:ptCount val="1"/>
                <c:pt idx="0">
                  <c:v>Single-shot LLM</c:v>
                </c:pt>
              </c:strCache>
            </c:strRef>
          </c:tx>
          <c:spPr>
            <a:solidFill>
              <a:srgbClr val="9DB1A6"/>
            </a:solidFill>
            <a:effectLst/>
          </c:spPr>
          <c:invertIfNegative val="0"/>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cat>
            <c:multiLvlStrRef>
              <c:f>Sheet1!$A$2:$A$4</c:f>
              <c:multiLvlStrCache>
                <c:ptCount val="3"/>
                <c:lvl>
                  <c:pt idx="0">
                    <c:v>1 fault</c:v>
                  </c:pt>
                  <c:pt idx="1">
                    <c:v>2 faults</c:v>
                  </c:pt>
                  <c:pt idx="2">
                    <c:v>3 faults</c:v>
                  </c:pt>
                </c:lvl>
              </c:multiLvlStrCache>
            </c:multiLvlStrRef>
          </c:cat>
          <c:val>
            <c:numRef>
              <c:f>Sheet1!$D$2:$D$4</c:f>
              <c:numCache>
                <c:formatCode>General</c:formatCode>
                <c:ptCount val="3"/>
                <c:pt idx="0">
                  <c:v>75</c:v>
                </c:pt>
                <c:pt idx="1">
                  <c:v>33</c:v>
                </c:pt>
                <c:pt idx="2">
                  <c:v>0</c:v>
                </c:pt>
              </c:numCache>
            </c:numRef>
          </c:val>
        </c:ser>
        <c:ser>
          <c:idx val="3"/>
          <c:order val="3"/>
          <c:tx>
            <c:strRef>
              <c:f>Sheet1!$E$1</c:f>
              <c:strCache>
                <c:ptCount val="1"/>
                <c:pt idx="0">
                  <c:v>LLM-only loop</c:v>
                </c:pt>
              </c:strCache>
            </c:strRef>
          </c:tx>
          <c:spPr>
            <a:solidFill>
              <a:srgbClr val="C9822B"/>
            </a:solidFill>
            <a:effectLst/>
          </c:spPr>
          <c:invertIfNegative val="0"/>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cat>
            <c:multiLvlStrRef>
              <c:f>Sheet1!$A$2:$A$4</c:f>
              <c:multiLvlStrCache>
                <c:ptCount val="3"/>
                <c:lvl>
                  <c:pt idx="0">
                    <c:v>1 fault</c:v>
                  </c:pt>
                  <c:pt idx="1">
                    <c:v>2 faults</c:v>
                  </c:pt>
                  <c:pt idx="2">
                    <c:v>3 faults</c:v>
                  </c:pt>
                </c:lvl>
              </c:multiLvlStrCache>
            </c:multiLvlStrRef>
          </c:cat>
          <c:val>
            <c:numRef>
              <c:f>Sheet1!$E$2:$E$4</c:f>
              <c:numCache>
                <c:formatCode>General</c:formatCode>
                <c:ptCount val="3"/>
                <c:pt idx="0">
                  <c:v>100</c:v>
                </c:pt>
                <c:pt idx="1">
                  <c:v>22</c:v>
                </c:pt>
                <c:pt idx="2">
                  <c:v>14</c:v>
                </c:pt>
              </c:numCache>
            </c:numRef>
          </c:val>
        </c:ser>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5291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E6E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E6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9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D3B2A"/>
                </a:solidFill>
                <a:latin typeface="+mn-lt"/>
              </a:defRPr>
            </a:pPr>
            <a:r>
              <a:rPr sz="1400" b="0" i="0" u="none" strike="noStrike">
                <a:solidFill>
                  <a:srgbClr val="0D3B2A"/>
                </a:solidFill>
                <a:latin typeface="+mn-lt"/>
              </a:rPr>
              <a:t>Ablations: remove one component at a time</a:t>
            </a:r>
          </a:p>
        </c:rich>
      </c:tx>
      <c:layout/>
      <c:overlay val="0"/>
    </c:title>
    <c:autoTitleDeleted val="0"/>
    <c:plotArea>
      <c:layout/>
      <c:barChart>
        <c:barDir val="col"/>
        <c:grouping val="clustered"/>
        <c:varyColors val="0"/>
        <c:ser>
          <c:idx val="0"/>
          <c:order val="0"/>
          <c:tx>
            <c:strRef>
              <c:f>Sheet1!$B$1</c:f>
              <c:strCache>
                <c:ptCount val="1"/>
                <c:pt idx="0">
                  <c:v>Recovered</c:v>
                </c:pt>
              </c:strCache>
            </c:strRef>
          </c:tx>
          <c:spPr>
            <a:solidFill>
              <a:srgbClr val="1F7A4D"/>
            </a:solidFill>
            <a:effectLst/>
          </c:spPr>
          <c:invertIfNegative val="0"/>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cat>
            <c:multiLvlStrRef>
              <c:f>Sheet1!$A$2:$A$6</c:f>
              <c:multiLvlStrCache>
                <c:ptCount val="5"/>
                <c:lvl>
                  <c:pt idx="0">
                    <c:v>Full agent</c:v>
                  </c:pt>
                  <c:pt idx="1">
                    <c:v>No verify gate</c:v>
                  </c:pt>
                  <c:pt idx="2">
                    <c:v>No loop</c:v>
                  </c:pt>
                  <c:pt idx="3">
                    <c:v>No beacon detector</c:v>
                  </c:pt>
                  <c:pt idx="4">
                    <c:v>No safety layer</c:v>
                  </c:pt>
                </c:lvl>
              </c:multiLvlStrCache>
            </c:multiLvlStrRef>
          </c:cat>
          <c:val>
            <c:numRef>
              <c:f>Sheet1!$B$2:$B$6</c:f>
              <c:numCache>
                <c:formatCode>General</c:formatCode>
                <c:ptCount val="5"/>
                <c:pt idx="0">
                  <c:v>100</c:v>
                </c:pt>
                <c:pt idx="1">
                  <c:v>20</c:v>
                </c:pt>
                <c:pt idx="2">
                  <c:v>20</c:v>
                </c:pt>
                <c:pt idx="3">
                  <c:v>50</c:v>
                </c:pt>
                <c:pt idx="4">
                  <c:v>100</c:v>
                </c:pt>
              </c:numCache>
            </c:numRef>
          </c:val>
        </c:ser>
        <c:ser>
          <c:idx val="1"/>
          <c:order val="1"/>
          <c:tx>
            <c:strRef>
              <c:f>Sheet1!$C$1</c:f>
              <c:strCache>
                <c:ptCount val="1"/>
                <c:pt idx="0">
                  <c:v>False “recovered”</c:v>
                </c:pt>
              </c:strCache>
            </c:strRef>
          </c:tx>
          <c:spPr>
            <a:solidFill>
              <a:srgbClr val="C9822B"/>
            </a:solidFill>
            <a:effectLst/>
          </c:spPr>
          <c:invertIfNegative val="0"/>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cat>
            <c:multiLvlStrRef>
              <c:f>Sheet1!$A$2:$A$6</c:f>
              <c:multiLvlStrCache>
                <c:ptCount val="5"/>
                <c:lvl>
                  <c:pt idx="0">
                    <c:v>Full agent</c:v>
                  </c:pt>
                  <c:pt idx="1">
                    <c:v>No verify gate</c:v>
                  </c:pt>
                  <c:pt idx="2">
                    <c:v>No loop</c:v>
                  </c:pt>
                  <c:pt idx="3">
                    <c:v>No beacon detector</c:v>
                  </c:pt>
                  <c:pt idx="4">
                    <c:v>No safety layer</c:v>
                  </c:pt>
                </c:lvl>
              </c:multiLvlStrCache>
            </c:multiLvlStrRef>
          </c:cat>
          <c:val>
            <c:numRef>
              <c:f>Sheet1!$C$2:$C$6</c:f>
              <c:numCache>
                <c:formatCode>General</c:formatCode>
                <c:ptCount val="5"/>
                <c:pt idx="0">
                  <c:v>0</c:v>
                </c:pt>
                <c:pt idx="1">
                  <c:v>80</c:v>
                </c:pt>
                <c:pt idx="2">
                  <c:v>0</c:v>
                </c:pt>
                <c:pt idx="3">
                  <c:v>35</c:v>
                </c:pt>
                <c:pt idx="4">
                  <c:v>0</c:v>
                </c:pt>
              </c:numCache>
            </c:numRef>
          </c:val>
        </c:ser>
        <c:dLbls>
          <c:numFmt formatCode="0&quot;%&quot;" sourceLinked="0"/>
          <c:txPr>
            <a:bodyPr/>
            <a:lstStyle/>
            <a:p>
              <a:pPr>
                <a:defRPr b="0" i="0" strike="noStrike" sz="1000" u="none">
                  <a:solidFill>
                    <a:srgbClr val="1529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5291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E6E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E6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529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Sentinel-RX is my entry for Challenge 1, agentic recovery of a failing system. It is an AI agent that finds what broke, works out why, fixes it safely, and refuses to say 'recovered' until the telemetry proves it. The three numbers here are from incidents the agent never saw during development: it recovered all of them, never falsely claimed success, and never took a harmful action, running on a local 7B model on a laptop.</a:t>
            </a:r>
            <a:endParaRPr/>
          </a:p>
        </p:txBody>
      </p:sp>
      <p:sp>
        <p:nvSpPr>
          <p:cNvPr id="34" name="Google Shape;3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little about me. I hold an M.S. in Computer Science from UNLV, focused on AI and cybersecurity. My master's thesis used machine learning to find attacker command-and-control beaconing using only the timing of network flows, which works even on encrypted traffic. That research is the seed of this project: Sentinel-RX's beacon detector uses the same periodicity idea. I've also worked as a software engineer in test, which is where my habit of measuring everything comes from.</a:t>
            </a:r>
            <a:endParaRPr/>
          </a:p>
        </p:txBody>
      </p:sp>
      <p:sp>
        <p:nvSpPr>
          <p:cNvPr id="53" name="Google Shape;5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challenge says failures are hard, especially when several happen at once. Three things make it hard. Faults interact: one broken database makes everything upstream look broken. Security incidents hide inside outages, and the obvious ops fix, restarting, is exactly the wrong move for a compromised host. And agents grade their own work: a single-shot LLM said 'fixed' in 70 percent of runs where it wasn't. Locally this matters because sensitive logs should stay inside the organization; globally because incident response doesn't scale with people alone.</a:t>
            </a:r>
            <a:endParaRPr/>
          </a:p>
        </p:txBody>
      </p:sp>
      <p:sp>
        <p:nvSpPr>
          <p:cNvPr id="85" name="Google Shape;8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writing code I surveyed the research: AIOps, LLM agents for incident management, agentic SRE benchmarks, remediation safety, and C2 beacon detection. Agents are now evaluated on live systems, but success on realistic benchmarks like ITBench and OpenRCA is still low, and five things are missing. Each of the five gaps became a metric in my benchmark, so the project answers the research question with numbers rather than claims.</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approach is a monitor-analyze-plan-execute loop. Detectors turn thousands of log lines and network flows into a short ranked evidence list. A local LLM forms hypotheses and runs targeted checks, then proposes an ordered plan from eight allowed actions. A safety gate screens it: containment needs evidence, a compromised host is contained before it is restarted, and anything that makes health worse is rolled back. After acting, a verification gate compares telemetry against the healthy baseline. Only a clean result counts as recovered; otherwise it loops or escalates.</a:t>
            </a:r>
            <a:endParaRPr/>
          </a:p>
        </p:txBody>
      </p:sp>
      <p:sp>
        <p:nvSpPr>
          <p:cNvPr id="151" name="Google Shape;1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Under the hood: a 7B Qwen model served locally by Ollama, four deterministic detectors including a RandomForest beacon detector, a simulator with ten fault types, and a live system of five real processes. On the right is the live demo: three faults at once on real processes. The model first wanted to restart the infected worker; the safety layer blocked it. The verifier refused to call it recovered while the beacon was still alive. Only after egress was blocked and the worker rebuilt did it report recovery.</a:t>
            </a:r>
            <a:endParaRPr/>
          </a:p>
        </p:txBody>
      </p:sp>
      <p:sp>
        <p:nvSpPr>
          <p:cNvPr id="199" name="Google Shape;1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headline numbers, all on held-out incidents the agent never saw while I was building it, three seeds each. Sentinel-RX recovered every one and never claimed a recovery it hadn't achieved. The rule-based runbook diagnoses almost as well, which shows the detectors are good, but it recovers only 45 percent because it can't sequence fixes or check its work. The single-shot LLM claims success 70 percent of the time while being wrong. The do-nothing and random baselines recover zero, which proves the recovery check can't be gamed.</a:t>
            </a:r>
            <a:endParaRPr/>
          </a:p>
        </p:txBody>
      </p:sp>
      <p:sp>
        <p:nvSpPr>
          <p:cNvPr id="243" name="Google Shape;2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Robustness. On the left: as faults stack from one to three, every baseline collapses, while Sentinel-RX stays at 100 percent. On the right, ablations: remove the verification gate and the agent claims success 80 percent of the time; remove the loop and it recovers only 20 percent; remove the beacon detector and half the runs fail; remove the safety layer and recovery holds but harmful actions appear. Each component protects a different metric. Below: it holds up under noisy logs, missing metrics, renamed services and clock skew, and every number is re-checked automatically.</a:t>
            </a:r>
            <a:endParaRPr/>
          </a:p>
        </p:txBody>
      </p:sp>
      <p:sp>
        <p:nvSpPr>
          <p:cNvPr id="264" name="Google Shape;26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What's new here. First, it's security-aware: it recognizes an attack hidden inside an outage and handles it in the right order. Second, recovery is verified, not believed. Third, it's sovereign and cheap: a local 7B model, about six thousand tokens per incident, so sensitive operational data never leaves the organization, which matters for Saudi enterprises and government. Fourth, it's reproducible: anyone can replay every number without a GPU. Globally, the benchmark itself is a contribution: it measures false claims, harm and cost, which most evaluations skip.</a:t>
            </a:r>
            <a:endParaRPr/>
          </a:p>
        </p:txBody>
      </p:sp>
      <p:sp>
        <p:nvSpPr>
          <p:cNvPr id="286" name="Google Shape;28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hard parts. The 7B model mixed up which service a symptom belonged to, so I regrouped the evidence per service and added a guard against repeating failed plans. Halfway through I suspected my own recovery metric was too lenient, audited it with do-nothing and random baselines, and fixed it. A final review found one test split that couldn't be replayed, which is now fixed and checked in CI. Limitations: the simulator is small, the unseen fault is recovered but not named, and the beacon model needs real data. Next: real telemetry, real captures, human approval for irreversible steps, and sovereign models like ALLaM.</a:t>
            </a:r>
            <a:endParaRPr/>
          </a:p>
        </p:txBody>
      </p:sp>
      <p:sp>
        <p:nvSpPr>
          <p:cNvPr id="318" name="Google Shape;31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wrap up: Sentinel-RX identifies, diagnoses, recovers and verifies, even with several faults and a hidden attack at once. On unseen incidents it recovered everything, with no false claims and no harmful actions, on a laptop. Everything is open: the live site has the results and a step-by-step replay of real incidents, the repository has the code, and the brief, the full report and my literature review explain the methodology. Scan the QR code to try it. Thank you.</a:t>
            </a:r>
            <a:endParaRPr/>
          </a:p>
        </p:txBody>
      </p:sp>
      <p:sp>
        <p:nvSpPr>
          <p:cNvPr id="340" name="Google Shape;34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itle">
  <p:cSld name="Dark title">
    <p:bg>
      <p:bgPr>
        <a:solidFill>
          <a:srgbClr val="0D3B2A"/>
        </a:solidFill>
      </p:bgPr>
    </p:bg>
    <p:spTree>
      <p:nvGrpSpPr>
        <p:cNvPr id="11" name="Shape 11"/>
        <p:cNvGrpSpPr/>
        <p:nvPr/>
      </p:nvGrpSpPr>
      <p:grpSpPr>
        <a:xfrm>
          <a:off x="0" y="0"/>
          <a:ext cx="0" cy="0"/>
          <a:chOff x="0" y="0"/>
          <a:chExt cx="0" cy="0"/>
        </a:xfrm>
      </p:grpSpPr>
      <p:sp>
        <p:nvSpPr>
          <p:cNvPr id="12" name="Google Shape;12;p13"/>
          <p:cNvSpPr txBox="1"/>
          <p:nvPr>
            <p:ph type="title"/>
          </p:nvPr>
        </p:nvSpPr>
        <p:spPr>
          <a:xfrm>
            <a:off x="731520" y="2514600"/>
            <a:ext cx="10698480" cy="10058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6000"/>
              <a:buFont typeface="Cambria"/>
              <a:buNone/>
              <a:defRPr b="1" i="0" sz="60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3"/>
          <p:cNvSpPr txBox="1"/>
          <p:nvPr>
            <p:ph idx="1" type="body"/>
          </p:nvPr>
        </p:nvSpPr>
        <p:spPr>
          <a:xfrm>
            <a:off x="731520" y="3611880"/>
            <a:ext cx="9326880" cy="9144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lt2"/>
              </a:buClr>
              <a:buSzPts val="2000"/>
              <a:buFont typeface="Arial"/>
              <a:buNone/>
              <a:defRPr b="0" i="0" sz="20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p:cSld name="About">
    <p:bg>
      <p:bgPr>
        <a:solidFill>
          <a:srgbClr val="FFFFFF"/>
        </a:solidFill>
      </p:bgPr>
    </p:bg>
    <p:spTree>
      <p:nvGrpSpPr>
        <p:cNvPr id="14" name="Shape 14"/>
        <p:cNvGrpSpPr/>
        <p:nvPr/>
      </p:nvGrpSpPr>
      <p:grpSpPr>
        <a:xfrm>
          <a:off x="0" y="0"/>
          <a:ext cx="0" cy="0"/>
          <a:chOff x="0" y="0"/>
          <a:chExt cx="0" cy="0"/>
        </a:xfrm>
      </p:grpSpPr>
      <p:sp>
        <p:nvSpPr>
          <p:cNvPr id="15" name="Google Shape;15;p14"/>
          <p:cNvSpPr txBox="1"/>
          <p:nvPr>
            <p:ph type="title"/>
          </p:nvPr>
        </p:nvSpPr>
        <p:spPr>
          <a:xfrm>
            <a:off x="548640" y="320040"/>
            <a:ext cx="10058400" cy="7772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600"/>
              <a:buFont typeface="Cambria"/>
              <a:buNone/>
              <a:defRPr b="1" i="0" sz="36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descr="/Users/dusty/Desktop/sentinel-rx-logo/sentinel-rx-mark.png" id="16" name="Google Shape;16;p14"/>
          <p:cNvPicPr preferRelativeResize="0"/>
          <p:nvPr/>
        </p:nvPicPr>
        <p:blipFill rotWithShape="1">
          <a:blip r:embed="rId2">
            <a:alphaModFix/>
          </a:blip>
          <a:srcRect b="0" l="0" r="0" t="0"/>
          <a:stretch/>
        </p:blipFill>
        <p:spPr>
          <a:xfrm>
            <a:off x="11109960" y="347472"/>
            <a:ext cx="548640" cy="649224"/>
          </a:xfrm>
          <a:prstGeom prst="rect">
            <a:avLst/>
          </a:prstGeom>
          <a:noFill/>
          <a:ln>
            <a:noFill/>
          </a:ln>
        </p:spPr>
      </p:pic>
      <p:sp>
        <p:nvSpPr>
          <p:cNvPr id="17" name="Google Shape;17;p14"/>
          <p:cNvSpPr/>
          <p:nvPr/>
        </p:nvSpPr>
        <p:spPr>
          <a:xfrm>
            <a:off x="548640" y="64008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1000"/>
              <a:buFont typeface="Calibri"/>
              <a:buNone/>
            </a:pPr>
            <a:r>
              <a:rPr b="0" i="0" lang="en-US" sz="1000" u="none" cap="none" strike="noStrike">
                <a:solidFill>
                  <a:schemeClr val="accent4"/>
                </a:solidFill>
                <a:latin typeface="Calibri"/>
                <a:ea typeface="Calibri"/>
                <a:cs typeface="Calibri"/>
                <a:sym typeface="Calibri"/>
              </a:rPr>
              <a:t>Sentinel-RX  ·  HUMAIN Hackathon  ·  Challenge 1: Agentic Recovery of a Failing System</a:t>
            </a:r>
            <a:endParaRPr b="0" i="0" sz="1000" u="none" cap="none" strike="noStrike">
              <a:solidFill>
                <a:schemeClr val="dk1"/>
              </a:solidFill>
              <a:latin typeface="Calibri"/>
              <a:ea typeface="Calibri"/>
              <a:cs typeface="Calibri"/>
              <a:sym typeface="Calibri"/>
            </a:endParaRPr>
          </a:p>
        </p:txBody>
      </p:sp>
      <p:sp>
        <p:nvSpPr>
          <p:cNvPr id="18" name="Google Shape;18;p14"/>
          <p:cNvSpPr txBox="1"/>
          <p:nvPr>
            <p:ph idx="1" type="body"/>
          </p:nvPr>
        </p:nvSpPr>
        <p:spPr>
          <a:xfrm>
            <a:off x="548640" y="1325880"/>
            <a:ext cx="2926080" cy="32461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640"/>
              </a:spcBef>
              <a:spcAft>
                <a:spcPts val="0"/>
              </a:spcAft>
              <a:buClr>
                <a:schemeClr val="accent4"/>
              </a:buClr>
              <a:buSzPts val="3200"/>
              <a:buFont typeface="Arial"/>
              <a:buNone/>
              <a:defRPr b="0" i="0" sz="3200" u="none" cap="none" strike="noStrike">
                <a:solidFill>
                  <a:schemeClr val="accent4"/>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14"/>
          <p:cNvSpPr txBox="1"/>
          <p:nvPr>
            <p:ph idx="12"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4"/>
                </a:solidFill>
                <a:latin typeface="Calibri"/>
                <a:ea typeface="Calibri"/>
                <a:cs typeface="Calibri"/>
                <a:sym typeface="Calibri"/>
              </a:defRPr>
            </a:lvl1pPr>
            <a:lvl2pPr indent="0" lvl="1" marL="0" marR="0" algn="r">
              <a:spcBef>
                <a:spcPts val="0"/>
              </a:spcBef>
              <a:buNone/>
              <a:defRPr b="0" i="0" sz="1000" u="none" cap="none" strike="noStrike">
                <a:solidFill>
                  <a:schemeClr val="accent4"/>
                </a:solidFill>
                <a:latin typeface="Calibri"/>
                <a:ea typeface="Calibri"/>
                <a:cs typeface="Calibri"/>
                <a:sym typeface="Calibri"/>
              </a:defRPr>
            </a:lvl2pPr>
            <a:lvl3pPr indent="0" lvl="2" marL="0" marR="0" algn="r">
              <a:spcBef>
                <a:spcPts val="0"/>
              </a:spcBef>
              <a:buNone/>
              <a:defRPr b="0" i="0" sz="1000" u="none" cap="none" strike="noStrike">
                <a:solidFill>
                  <a:schemeClr val="accent4"/>
                </a:solidFill>
                <a:latin typeface="Calibri"/>
                <a:ea typeface="Calibri"/>
                <a:cs typeface="Calibri"/>
                <a:sym typeface="Calibri"/>
              </a:defRPr>
            </a:lvl3pPr>
            <a:lvl4pPr indent="0" lvl="3" marL="0" marR="0" algn="r">
              <a:spcBef>
                <a:spcPts val="0"/>
              </a:spcBef>
              <a:buNone/>
              <a:defRPr b="0" i="0" sz="1000" u="none" cap="none" strike="noStrike">
                <a:solidFill>
                  <a:schemeClr val="accent4"/>
                </a:solidFill>
                <a:latin typeface="Calibri"/>
                <a:ea typeface="Calibri"/>
                <a:cs typeface="Calibri"/>
                <a:sym typeface="Calibri"/>
              </a:defRPr>
            </a:lvl4pPr>
            <a:lvl5pPr indent="0" lvl="4" marL="0" marR="0" algn="r">
              <a:spcBef>
                <a:spcPts val="0"/>
              </a:spcBef>
              <a:buNone/>
              <a:defRPr b="0" i="0" sz="1000" u="none" cap="none" strike="noStrike">
                <a:solidFill>
                  <a:schemeClr val="accent4"/>
                </a:solidFill>
                <a:latin typeface="Calibri"/>
                <a:ea typeface="Calibri"/>
                <a:cs typeface="Calibri"/>
                <a:sym typeface="Calibri"/>
              </a:defRPr>
            </a:lvl5pPr>
            <a:lvl6pPr indent="0" lvl="5" marL="0" marR="0" algn="r">
              <a:spcBef>
                <a:spcPts val="0"/>
              </a:spcBef>
              <a:buNone/>
              <a:defRPr b="0" i="0" sz="1000" u="none" cap="none" strike="noStrike">
                <a:solidFill>
                  <a:schemeClr val="accent4"/>
                </a:solidFill>
                <a:latin typeface="Calibri"/>
                <a:ea typeface="Calibri"/>
                <a:cs typeface="Calibri"/>
                <a:sym typeface="Calibri"/>
              </a:defRPr>
            </a:lvl6pPr>
            <a:lvl7pPr indent="0" lvl="6" marL="0" marR="0" algn="r">
              <a:spcBef>
                <a:spcPts val="0"/>
              </a:spcBef>
              <a:buNone/>
              <a:defRPr b="0" i="0" sz="1000" u="none" cap="none" strike="noStrike">
                <a:solidFill>
                  <a:schemeClr val="accent4"/>
                </a:solidFill>
                <a:latin typeface="Calibri"/>
                <a:ea typeface="Calibri"/>
                <a:cs typeface="Calibri"/>
                <a:sym typeface="Calibri"/>
              </a:defRPr>
            </a:lvl7pPr>
            <a:lvl8pPr indent="0" lvl="7" marL="0" marR="0" algn="r">
              <a:spcBef>
                <a:spcPts val="0"/>
              </a:spcBef>
              <a:buNone/>
              <a:defRPr b="0" i="0" sz="1000" u="none" cap="none" strike="noStrike">
                <a:solidFill>
                  <a:schemeClr val="accent4"/>
                </a:solidFill>
                <a:latin typeface="Calibri"/>
                <a:ea typeface="Calibri"/>
                <a:cs typeface="Calibri"/>
                <a:sym typeface="Calibri"/>
              </a:defRPr>
            </a:lvl8pPr>
            <a:lvl9pPr indent="0" lvl="8" marL="0" marR="0" algn="r">
              <a:spcBef>
                <a:spcPts val="0"/>
              </a:spcBef>
              <a:buNone/>
              <a:defRPr b="0" i="0" sz="1000" u="none" cap="none" strike="noStrike">
                <a:solidFill>
                  <a:schemeClr val="accent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20" name="Shape 20"/>
        <p:cNvGrpSpPr/>
        <p:nvPr/>
      </p:nvGrpSpPr>
      <p:grpSpPr>
        <a:xfrm>
          <a:off x="0" y="0"/>
          <a:ext cx="0" cy="0"/>
          <a:chOff x="0" y="0"/>
          <a:chExt cx="0" cy="0"/>
        </a:xfrm>
      </p:grpSpPr>
      <p:sp>
        <p:nvSpPr>
          <p:cNvPr id="21" name="Google Shape;21;p15"/>
          <p:cNvSpPr txBox="1"/>
          <p:nvPr>
            <p:ph type="title"/>
          </p:nvPr>
        </p:nvSpPr>
        <p:spPr>
          <a:xfrm>
            <a:off x="548640" y="320040"/>
            <a:ext cx="10058400" cy="7772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600"/>
              <a:buFont typeface="Cambria"/>
              <a:buNone/>
              <a:defRPr b="1" i="0" sz="36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descr="/Users/dusty/Desktop/sentinel-rx-logo/sentinel-rx-mark.png" id="22" name="Google Shape;22;p15"/>
          <p:cNvPicPr preferRelativeResize="0"/>
          <p:nvPr/>
        </p:nvPicPr>
        <p:blipFill rotWithShape="1">
          <a:blip r:embed="rId2">
            <a:alphaModFix/>
          </a:blip>
          <a:srcRect b="0" l="0" r="0" t="0"/>
          <a:stretch/>
        </p:blipFill>
        <p:spPr>
          <a:xfrm>
            <a:off x="11109960" y="347472"/>
            <a:ext cx="548640" cy="649224"/>
          </a:xfrm>
          <a:prstGeom prst="rect">
            <a:avLst/>
          </a:prstGeom>
          <a:noFill/>
          <a:ln>
            <a:noFill/>
          </a:ln>
        </p:spPr>
      </p:pic>
      <p:sp>
        <p:nvSpPr>
          <p:cNvPr id="23" name="Google Shape;23;p15"/>
          <p:cNvSpPr/>
          <p:nvPr/>
        </p:nvSpPr>
        <p:spPr>
          <a:xfrm>
            <a:off x="548640" y="64008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1000"/>
              <a:buFont typeface="Calibri"/>
              <a:buNone/>
            </a:pPr>
            <a:r>
              <a:rPr b="0" i="0" lang="en-US" sz="1000" u="none" cap="none" strike="noStrike">
                <a:solidFill>
                  <a:schemeClr val="accent4"/>
                </a:solidFill>
                <a:latin typeface="Calibri"/>
                <a:ea typeface="Calibri"/>
                <a:cs typeface="Calibri"/>
                <a:sym typeface="Calibri"/>
              </a:rPr>
              <a:t>Sentinel-RX  ·  HUMAIN Hackathon  ·  Challenge 1: Agentic Recovery of a Failing System</a:t>
            </a:r>
            <a:endParaRPr b="0" i="0" sz="1000" u="none" cap="none" strike="noStrike">
              <a:solidFill>
                <a:schemeClr val="dk1"/>
              </a:solidFill>
              <a:latin typeface="Calibri"/>
              <a:ea typeface="Calibri"/>
              <a:cs typeface="Calibri"/>
              <a:sym typeface="Calibri"/>
            </a:endParaRPr>
          </a:p>
        </p:txBody>
      </p:sp>
      <p:sp>
        <p:nvSpPr>
          <p:cNvPr id="24" name="Google Shape;24;p15"/>
          <p:cNvSpPr txBox="1"/>
          <p:nvPr>
            <p:ph idx="12"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4"/>
                </a:solidFill>
                <a:latin typeface="Calibri"/>
                <a:ea typeface="Calibri"/>
                <a:cs typeface="Calibri"/>
                <a:sym typeface="Calibri"/>
              </a:defRPr>
            </a:lvl1pPr>
            <a:lvl2pPr indent="0" lvl="1" marL="0" marR="0" algn="r">
              <a:spcBef>
                <a:spcPts val="0"/>
              </a:spcBef>
              <a:buNone/>
              <a:defRPr b="0" i="0" sz="1000" u="none" cap="none" strike="noStrike">
                <a:solidFill>
                  <a:schemeClr val="accent4"/>
                </a:solidFill>
                <a:latin typeface="Calibri"/>
                <a:ea typeface="Calibri"/>
                <a:cs typeface="Calibri"/>
                <a:sym typeface="Calibri"/>
              </a:defRPr>
            </a:lvl2pPr>
            <a:lvl3pPr indent="0" lvl="2" marL="0" marR="0" algn="r">
              <a:spcBef>
                <a:spcPts val="0"/>
              </a:spcBef>
              <a:buNone/>
              <a:defRPr b="0" i="0" sz="1000" u="none" cap="none" strike="noStrike">
                <a:solidFill>
                  <a:schemeClr val="accent4"/>
                </a:solidFill>
                <a:latin typeface="Calibri"/>
                <a:ea typeface="Calibri"/>
                <a:cs typeface="Calibri"/>
                <a:sym typeface="Calibri"/>
              </a:defRPr>
            </a:lvl3pPr>
            <a:lvl4pPr indent="0" lvl="3" marL="0" marR="0" algn="r">
              <a:spcBef>
                <a:spcPts val="0"/>
              </a:spcBef>
              <a:buNone/>
              <a:defRPr b="0" i="0" sz="1000" u="none" cap="none" strike="noStrike">
                <a:solidFill>
                  <a:schemeClr val="accent4"/>
                </a:solidFill>
                <a:latin typeface="Calibri"/>
                <a:ea typeface="Calibri"/>
                <a:cs typeface="Calibri"/>
                <a:sym typeface="Calibri"/>
              </a:defRPr>
            </a:lvl4pPr>
            <a:lvl5pPr indent="0" lvl="4" marL="0" marR="0" algn="r">
              <a:spcBef>
                <a:spcPts val="0"/>
              </a:spcBef>
              <a:buNone/>
              <a:defRPr b="0" i="0" sz="1000" u="none" cap="none" strike="noStrike">
                <a:solidFill>
                  <a:schemeClr val="accent4"/>
                </a:solidFill>
                <a:latin typeface="Calibri"/>
                <a:ea typeface="Calibri"/>
                <a:cs typeface="Calibri"/>
                <a:sym typeface="Calibri"/>
              </a:defRPr>
            </a:lvl5pPr>
            <a:lvl6pPr indent="0" lvl="5" marL="0" marR="0" algn="r">
              <a:spcBef>
                <a:spcPts val="0"/>
              </a:spcBef>
              <a:buNone/>
              <a:defRPr b="0" i="0" sz="1000" u="none" cap="none" strike="noStrike">
                <a:solidFill>
                  <a:schemeClr val="accent4"/>
                </a:solidFill>
                <a:latin typeface="Calibri"/>
                <a:ea typeface="Calibri"/>
                <a:cs typeface="Calibri"/>
                <a:sym typeface="Calibri"/>
              </a:defRPr>
            </a:lvl6pPr>
            <a:lvl7pPr indent="0" lvl="6" marL="0" marR="0" algn="r">
              <a:spcBef>
                <a:spcPts val="0"/>
              </a:spcBef>
              <a:buNone/>
              <a:defRPr b="0" i="0" sz="1000" u="none" cap="none" strike="noStrike">
                <a:solidFill>
                  <a:schemeClr val="accent4"/>
                </a:solidFill>
                <a:latin typeface="Calibri"/>
                <a:ea typeface="Calibri"/>
                <a:cs typeface="Calibri"/>
                <a:sym typeface="Calibri"/>
              </a:defRPr>
            </a:lvl7pPr>
            <a:lvl8pPr indent="0" lvl="7" marL="0" marR="0" algn="r">
              <a:spcBef>
                <a:spcPts val="0"/>
              </a:spcBef>
              <a:buNone/>
              <a:defRPr b="0" i="0" sz="1000" u="none" cap="none" strike="noStrike">
                <a:solidFill>
                  <a:schemeClr val="accent4"/>
                </a:solidFill>
                <a:latin typeface="Calibri"/>
                <a:ea typeface="Calibri"/>
                <a:cs typeface="Calibri"/>
                <a:sym typeface="Calibri"/>
              </a:defRPr>
            </a:lvl8pPr>
            <a:lvl9pPr indent="0" lvl="8" marL="0" marR="0" algn="r">
              <a:spcBef>
                <a:spcPts val="0"/>
              </a:spcBef>
              <a:buNone/>
              <a:defRPr b="0" i="0" sz="1000" u="none" cap="none" strike="noStrike">
                <a:solidFill>
                  <a:schemeClr val="accent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content">
  <p:cSld name="Dark content">
    <p:bg>
      <p:bgPr>
        <a:solidFill>
          <a:srgbClr val="0D3B2A"/>
        </a:solidFill>
      </p:bgPr>
    </p:bg>
    <p:spTree>
      <p:nvGrpSpPr>
        <p:cNvPr id="25" name="Shape 25"/>
        <p:cNvGrpSpPr/>
        <p:nvPr/>
      </p:nvGrpSpPr>
      <p:grpSpPr>
        <a:xfrm>
          <a:off x="0" y="0"/>
          <a:ext cx="0" cy="0"/>
          <a:chOff x="0" y="0"/>
          <a:chExt cx="0" cy="0"/>
        </a:xfrm>
      </p:grpSpPr>
      <p:sp>
        <p:nvSpPr>
          <p:cNvPr id="26" name="Google Shape;26;p16"/>
          <p:cNvSpPr txBox="1"/>
          <p:nvPr>
            <p:ph type="title"/>
          </p:nvPr>
        </p:nvSpPr>
        <p:spPr>
          <a:xfrm>
            <a:off x="548640" y="320040"/>
            <a:ext cx="10058400" cy="7772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600"/>
              <a:buFont typeface="Cambria"/>
              <a:buNone/>
              <a:defRPr b="1" i="0" sz="36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descr="/Users/dusty/Desktop/sentinel-rx-logo/sentinel-rx-mark.png" id="27" name="Google Shape;27;p16"/>
          <p:cNvPicPr preferRelativeResize="0"/>
          <p:nvPr/>
        </p:nvPicPr>
        <p:blipFill rotWithShape="1">
          <a:blip r:embed="rId2">
            <a:alphaModFix/>
          </a:blip>
          <a:srcRect b="0" l="0" r="0" t="0"/>
          <a:stretch/>
        </p:blipFill>
        <p:spPr>
          <a:xfrm>
            <a:off x="11109960" y="347472"/>
            <a:ext cx="548640" cy="649224"/>
          </a:xfrm>
          <a:prstGeom prst="rect">
            <a:avLst/>
          </a:prstGeom>
          <a:noFill/>
          <a:ln>
            <a:noFill/>
          </a:ln>
        </p:spPr>
      </p:pic>
      <p:sp>
        <p:nvSpPr>
          <p:cNvPr id="28" name="Google Shape;28;p16"/>
          <p:cNvSpPr/>
          <p:nvPr/>
        </p:nvSpPr>
        <p:spPr>
          <a:xfrm>
            <a:off x="548640" y="64008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Sentinel-RX  ·  HUMAIN Hackathon  ·  Challenge 1: Agentic Recovery of a Failing System</a:t>
            </a:r>
            <a:endParaRPr b="0" i="0" sz="1000" u="none" cap="none" strike="noStrike">
              <a:solidFill>
                <a:schemeClr val="dk1"/>
              </a:solidFill>
              <a:latin typeface="Calibri"/>
              <a:ea typeface="Calibri"/>
              <a:cs typeface="Calibri"/>
              <a:sym typeface="Calibri"/>
            </a:endParaRPr>
          </a:p>
        </p:txBody>
      </p:sp>
      <p:sp>
        <p:nvSpPr>
          <p:cNvPr id="29" name="Google Shape;29;p16"/>
          <p:cNvSpPr txBox="1"/>
          <p:nvPr>
            <p:ph idx="12"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5"/>
                </a:solidFill>
                <a:latin typeface="Calibri"/>
                <a:ea typeface="Calibri"/>
                <a:cs typeface="Calibri"/>
                <a:sym typeface="Calibri"/>
              </a:defRPr>
            </a:lvl1pPr>
            <a:lvl2pPr indent="0" lvl="1" marL="0" marR="0" algn="r">
              <a:spcBef>
                <a:spcPts val="0"/>
              </a:spcBef>
              <a:buNone/>
              <a:defRPr b="0" i="0" sz="1000" u="none" cap="none" strike="noStrike">
                <a:solidFill>
                  <a:schemeClr val="accent5"/>
                </a:solidFill>
                <a:latin typeface="Calibri"/>
                <a:ea typeface="Calibri"/>
                <a:cs typeface="Calibri"/>
                <a:sym typeface="Calibri"/>
              </a:defRPr>
            </a:lvl2pPr>
            <a:lvl3pPr indent="0" lvl="2" marL="0" marR="0" algn="r">
              <a:spcBef>
                <a:spcPts val="0"/>
              </a:spcBef>
              <a:buNone/>
              <a:defRPr b="0" i="0" sz="1000" u="none" cap="none" strike="noStrike">
                <a:solidFill>
                  <a:schemeClr val="accent5"/>
                </a:solidFill>
                <a:latin typeface="Calibri"/>
                <a:ea typeface="Calibri"/>
                <a:cs typeface="Calibri"/>
                <a:sym typeface="Calibri"/>
              </a:defRPr>
            </a:lvl3pPr>
            <a:lvl4pPr indent="0" lvl="3" marL="0" marR="0" algn="r">
              <a:spcBef>
                <a:spcPts val="0"/>
              </a:spcBef>
              <a:buNone/>
              <a:defRPr b="0" i="0" sz="1000" u="none" cap="none" strike="noStrike">
                <a:solidFill>
                  <a:schemeClr val="accent5"/>
                </a:solidFill>
                <a:latin typeface="Calibri"/>
                <a:ea typeface="Calibri"/>
                <a:cs typeface="Calibri"/>
                <a:sym typeface="Calibri"/>
              </a:defRPr>
            </a:lvl4pPr>
            <a:lvl5pPr indent="0" lvl="4" marL="0" marR="0" algn="r">
              <a:spcBef>
                <a:spcPts val="0"/>
              </a:spcBef>
              <a:buNone/>
              <a:defRPr b="0" i="0" sz="1000" u="none" cap="none" strike="noStrike">
                <a:solidFill>
                  <a:schemeClr val="accent5"/>
                </a:solidFill>
                <a:latin typeface="Calibri"/>
                <a:ea typeface="Calibri"/>
                <a:cs typeface="Calibri"/>
                <a:sym typeface="Calibri"/>
              </a:defRPr>
            </a:lvl5pPr>
            <a:lvl6pPr indent="0" lvl="5" marL="0" marR="0" algn="r">
              <a:spcBef>
                <a:spcPts val="0"/>
              </a:spcBef>
              <a:buNone/>
              <a:defRPr b="0" i="0" sz="1000" u="none" cap="none" strike="noStrike">
                <a:solidFill>
                  <a:schemeClr val="accent5"/>
                </a:solidFill>
                <a:latin typeface="Calibri"/>
                <a:ea typeface="Calibri"/>
                <a:cs typeface="Calibri"/>
                <a:sym typeface="Calibri"/>
              </a:defRPr>
            </a:lvl6pPr>
            <a:lvl7pPr indent="0" lvl="6" marL="0" marR="0" algn="r">
              <a:spcBef>
                <a:spcPts val="0"/>
              </a:spcBef>
              <a:buNone/>
              <a:defRPr b="0" i="0" sz="1000" u="none" cap="none" strike="noStrike">
                <a:solidFill>
                  <a:schemeClr val="accent5"/>
                </a:solidFill>
                <a:latin typeface="Calibri"/>
                <a:ea typeface="Calibri"/>
                <a:cs typeface="Calibri"/>
                <a:sym typeface="Calibri"/>
              </a:defRPr>
            </a:lvl7pPr>
            <a:lvl8pPr indent="0" lvl="7" marL="0" marR="0" algn="r">
              <a:spcBef>
                <a:spcPts val="0"/>
              </a:spcBef>
              <a:buNone/>
              <a:defRPr b="0" i="0" sz="1000" u="none" cap="none" strike="noStrike">
                <a:solidFill>
                  <a:schemeClr val="accent5"/>
                </a:solidFill>
                <a:latin typeface="Calibri"/>
                <a:ea typeface="Calibri"/>
                <a:cs typeface="Calibri"/>
                <a:sym typeface="Calibri"/>
              </a:defRPr>
            </a:lvl8pPr>
            <a:lvl9pPr indent="0" lvl="8" marL="0" marR="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2"/>
          <p:cNvSpPr txBox="1"/>
          <p:nvPr>
            <p:ph idx="12"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4"/>
                </a:solidFill>
                <a:latin typeface="Calibri"/>
                <a:ea typeface="Calibri"/>
                <a:cs typeface="Calibri"/>
                <a:sym typeface="Calibri"/>
              </a:defRPr>
            </a:lvl1pPr>
            <a:lvl2pPr indent="0" lvl="1" marL="0" marR="0" rtl="0" algn="r">
              <a:spcBef>
                <a:spcPts val="0"/>
              </a:spcBef>
              <a:buNone/>
              <a:defRPr b="0" i="0" sz="1000" u="none" cap="none" strike="noStrike">
                <a:solidFill>
                  <a:schemeClr val="accent4"/>
                </a:solidFill>
                <a:latin typeface="Calibri"/>
                <a:ea typeface="Calibri"/>
                <a:cs typeface="Calibri"/>
                <a:sym typeface="Calibri"/>
              </a:defRPr>
            </a:lvl2pPr>
            <a:lvl3pPr indent="0" lvl="2" marL="0" marR="0" rtl="0" algn="r">
              <a:spcBef>
                <a:spcPts val="0"/>
              </a:spcBef>
              <a:buNone/>
              <a:defRPr b="0" i="0" sz="1000" u="none" cap="none" strike="noStrike">
                <a:solidFill>
                  <a:schemeClr val="accent4"/>
                </a:solidFill>
                <a:latin typeface="Calibri"/>
                <a:ea typeface="Calibri"/>
                <a:cs typeface="Calibri"/>
                <a:sym typeface="Calibri"/>
              </a:defRPr>
            </a:lvl3pPr>
            <a:lvl4pPr indent="0" lvl="3" marL="0" marR="0" rtl="0" algn="r">
              <a:spcBef>
                <a:spcPts val="0"/>
              </a:spcBef>
              <a:buNone/>
              <a:defRPr b="0" i="0" sz="1000" u="none" cap="none" strike="noStrike">
                <a:solidFill>
                  <a:schemeClr val="accent4"/>
                </a:solidFill>
                <a:latin typeface="Calibri"/>
                <a:ea typeface="Calibri"/>
                <a:cs typeface="Calibri"/>
                <a:sym typeface="Calibri"/>
              </a:defRPr>
            </a:lvl4pPr>
            <a:lvl5pPr indent="0" lvl="4" marL="0" marR="0" rtl="0" algn="r">
              <a:spcBef>
                <a:spcPts val="0"/>
              </a:spcBef>
              <a:buNone/>
              <a:defRPr b="0" i="0" sz="1000" u="none" cap="none" strike="noStrike">
                <a:solidFill>
                  <a:schemeClr val="accent4"/>
                </a:solidFill>
                <a:latin typeface="Calibri"/>
                <a:ea typeface="Calibri"/>
                <a:cs typeface="Calibri"/>
                <a:sym typeface="Calibri"/>
              </a:defRPr>
            </a:lvl5pPr>
            <a:lvl6pPr indent="0" lvl="5" marL="0" marR="0" rtl="0" algn="r">
              <a:spcBef>
                <a:spcPts val="0"/>
              </a:spcBef>
              <a:buNone/>
              <a:defRPr b="0" i="0" sz="1000" u="none" cap="none" strike="noStrike">
                <a:solidFill>
                  <a:schemeClr val="accent4"/>
                </a:solidFill>
                <a:latin typeface="Calibri"/>
                <a:ea typeface="Calibri"/>
                <a:cs typeface="Calibri"/>
                <a:sym typeface="Calibri"/>
              </a:defRPr>
            </a:lvl6pPr>
            <a:lvl7pPr indent="0" lvl="6" marL="0" marR="0" rtl="0" algn="r">
              <a:spcBef>
                <a:spcPts val="0"/>
              </a:spcBef>
              <a:buNone/>
              <a:defRPr b="0" i="0" sz="1000" u="none" cap="none" strike="noStrike">
                <a:solidFill>
                  <a:schemeClr val="accent4"/>
                </a:solidFill>
                <a:latin typeface="Calibri"/>
                <a:ea typeface="Calibri"/>
                <a:cs typeface="Calibri"/>
                <a:sym typeface="Calibri"/>
              </a:defRPr>
            </a:lvl7pPr>
            <a:lvl8pPr indent="0" lvl="7" marL="0" marR="0" rtl="0" algn="r">
              <a:spcBef>
                <a:spcPts val="0"/>
              </a:spcBef>
              <a:buNone/>
              <a:defRPr b="0" i="0" sz="1000" u="none" cap="none" strike="noStrike">
                <a:solidFill>
                  <a:schemeClr val="accent4"/>
                </a:solidFill>
                <a:latin typeface="Calibri"/>
                <a:ea typeface="Calibri"/>
                <a:cs typeface="Calibri"/>
                <a:sym typeface="Calibri"/>
              </a:defRPr>
            </a:lvl8pPr>
            <a:lvl9pPr indent="0" lvl="8" marL="0" marR="0" rtl="0" algn="r">
              <a:spcBef>
                <a:spcPts val="0"/>
              </a:spcBef>
              <a:buNone/>
              <a:defRPr b="0" i="0" sz="1000" u="none" cap="none" strike="noStrike">
                <a:solidFill>
                  <a:schemeClr val="accent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hyperlink" Target="https://abdulalharbi.github.io/sentinel-rx/"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7.png"/><Relationship Id="rId4" Type="http://schemas.openxmlformats.org/officeDocument/2006/relationships/hyperlink" Target="mailto:alharbi.ams@outlook.com" TargetMode="External"/><Relationship Id="rId9" Type="http://schemas.openxmlformats.org/officeDocument/2006/relationships/image" Target="../media/image9.png"/><Relationship Id="rId5" Type="http://schemas.openxmlformats.org/officeDocument/2006/relationships/hyperlink" Target="https://www.linkedin.com/in/abdulrahman-alharbi-191837210" TargetMode="External"/><Relationship Id="rId6" Type="http://schemas.openxmlformats.org/officeDocument/2006/relationships/image" Target="../media/image18.png"/><Relationship Id="rId7" Type="http://schemas.openxmlformats.org/officeDocument/2006/relationships/image" Target="../media/image5.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2.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34.png"/><Relationship Id="rId7" Type="http://schemas.openxmlformats.org/officeDocument/2006/relationships/image" Target="../media/image11.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6.png"/><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4.png"/><Relationship Id="rId4" Type="http://schemas.openxmlformats.org/officeDocument/2006/relationships/image" Target="../media/image7.png"/><Relationship Id="rId5" Type="http://schemas.openxmlformats.org/officeDocument/2006/relationships/image" Target="../media/image27.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abdulalharbi.github.io/sentinel-rx/" TargetMode="External"/><Relationship Id="rId4" Type="http://schemas.openxmlformats.org/officeDocument/2006/relationships/hyperlink" Target="https://github.com/AbdulAlharbi/sentinel-rx" TargetMode="External"/><Relationship Id="rId9" Type="http://schemas.openxmlformats.org/officeDocument/2006/relationships/hyperlink" Target="https://oasis.library.unlv.edu/thesesdissertations/" TargetMode="External"/><Relationship Id="rId5" Type="http://schemas.openxmlformats.org/officeDocument/2006/relationships/hyperlink" Target="https://abdulalharbi.github.io/sentinel-rx/sentinel_rx_brief.pdf" TargetMode="External"/><Relationship Id="rId6" Type="http://schemas.openxmlformats.org/officeDocument/2006/relationships/hyperlink" Target="https://abdulalharbi.github.io/sentinel-rx/sentinel_rx_technical_report.pdf" TargetMode="External"/><Relationship Id="rId7" Type="http://schemas.openxmlformats.org/officeDocument/2006/relationships/hyperlink" Target="https://abdulalharbi.github.io/sentinel-rx/literature_review.pdf" TargetMode="External"/><Relationship Id="rId8"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pic>
        <p:nvPicPr>
          <p:cNvPr descr="Sentinel-RX logo: a shield with the prescription sign" id="36" name="Google Shape;36;p1"/>
          <p:cNvPicPr preferRelativeResize="0"/>
          <p:nvPr/>
        </p:nvPicPr>
        <p:blipFill rotWithShape="1">
          <a:blip r:embed="rId3">
            <a:alphaModFix/>
          </a:blip>
          <a:srcRect b="0" l="0" r="0" t="0"/>
          <a:stretch/>
        </p:blipFill>
        <p:spPr>
          <a:xfrm>
            <a:off x="731520" y="685800"/>
            <a:ext cx="960120" cy="1133856"/>
          </a:xfrm>
          <a:prstGeom prst="rect">
            <a:avLst/>
          </a:prstGeom>
          <a:noFill/>
          <a:ln>
            <a:noFill/>
          </a:ln>
        </p:spPr>
      </p:pic>
      <p:sp>
        <p:nvSpPr>
          <p:cNvPr id="37" name="Google Shape;37;p1"/>
          <p:cNvSpPr txBox="1"/>
          <p:nvPr/>
        </p:nvSpPr>
        <p:spPr>
          <a:xfrm>
            <a:off x="731520" y="2103120"/>
            <a:ext cx="10515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lang="en-US" spc="200" sz="1300">
                <a:solidFill>
                  <a:schemeClr val="accent3"/>
                </a:solidFill>
                <a:latin typeface="Calibri"/>
                <a:ea typeface="Calibri"/>
                <a:cs typeface="Calibri"/>
                <a:sym typeface="Calibri"/>
              </a:rPr>
              <a:t>HUMAIN       HACKATHON         </a:t>
            </a:r>
            <a:r>
              <a:rPr b="1" lang="en-US" spc="200" sz="1300">
                <a:solidFill>
                  <a:schemeClr val="accent3"/>
                </a:solidFill>
                <a:latin typeface="Calibri"/>
                <a:ea typeface="Calibri"/>
                <a:cs typeface="Calibri"/>
                <a:sym typeface="Calibri"/>
              </a:rPr>
              <a:t>CHALLENGE</a:t>
            </a:r>
            <a:r>
              <a:rPr b="1" lang="en-US" spc="200" sz="1300">
                <a:solidFill>
                  <a:schemeClr val="accent3"/>
                </a:solidFill>
                <a:latin typeface="Calibri"/>
                <a:ea typeface="Calibri"/>
                <a:cs typeface="Calibri"/>
                <a:sym typeface="Calibri"/>
              </a:rPr>
              <a:t>        1:  AGENTIC      RECOVERY       OF    A   FAILING      SYSTEM         </a:t>
            </a:r>
            <a:endParaRPr b="0" i="0" sz="1300" u="none" cap="none" strike="noStrike">
              <a:solidFill>
                <a:schemeClr val="dk1"/>
              </a:solidFill>
              <a:latin typeface="Calibri"/>
              <a:ea typeface="Calibri"/>
              <a:cs typeface="Calibri"/>
              <a:sym typeface="Calibri"/>
            </a:endParaRPr>
          </a:p>
        </p:txBody>
      </p:sp>
      <p:sp>
        <p:nvSpPr>
          <p:cNvPr id="38" name="Google Shape;38;p1"/>
          <p:cNvSpPr txBox="1"/>
          <p:nvPr>
            <p:ph type="title"/>
          </p:nvPr>
        </p:nvSpPr>
        <p:spPr>
          <a:xfrm>
            <a:off x="731520" y="2514600"/>
            <a:ext cx="10698480" cy="10058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6000"/>
              <a:buFont typeface="Cambria"/>
              <a:buNone/>
            </a:pPr>
            <a:r>
              <a:rPr b="1" lang="en-US" sz="6000">
                <a:solidFill>
                  <a:schemeClr val="lt1"/>
                </a:solidFill>
                <a:latin typeface="Cambria"/>
                <a:ea typeface="Cambria"/>
                <a:cs typeface="Cambria"/>
                <a:sym typeface="Cambria"/>
              </a:rPr>
              <a:t>Sentinel-RX</a:t>
            </a:r>
            <a:endParaRPr sz="6000"/>
          </a:p>
        </p:txBody>
      </p:sp>
      <p:sp>
        <p:nvSpPr>
          <p:cNvPr id="39" name="Google Shape;39;p1"/>
          <p:cNvSpPr txBox="1"/>
          <p:nvPr>
            <p:ph idx="1" type="body"/>
          </p:nvPr>
        </p:nvSpPr>
        <p:spPr>
          <a:xfrm>
            <a:off x="731520" y="3611880"/>
            <a:ext cx="932688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2000"/>
              <a:buNone/>
            </a:pPr>
            <a:r>
              <a:rPr lang="en-US" sz="2000">
                <a:solidFill>
                  <a:schemeClr val="lt2"/>
                </a:solidFill>
              </a:rPr>
              <a:t>A security-aware AI agent that identifies, diagnoses, recovers and verifies the recovery of a failing system, even when several faults hit at once.</a:t>
            </a:r>
            <a:endParaRPr sz="2000"/>
          </a:p>
        </p:txBody>
      </p:sp>
      <p:sp>
        <p:nvSpPr>
          <p:cNvPr id="40" name="Google Shape;40;p1"/>
          <p:cNvSpPr/>
          <p:nvPr/>
        </p:nvSpPr>
        <p:spPr>
          <a:xfrm>
            <a:off x="731520" y="4709160"/>
            <a:ext cx="3337560" cy="1143000"/>
          </a:xfrm>
          <a:prstGeom prst="roundRect">
            <a:avLst>
              <a:gd fmla="val 9600" name="adj"/>
            </a:avLst>
          </a:prstGeom>
          <a:solidFill>
            <a:schemeClr val="accent1">
              <a:alpha val="4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
          <p:cNvSpPr txBox="1"/>
          <p:nvPr/>
        </p:nvSpPr>
        <p:spPr>
          <a:xfrm>
            <a:off x="960120" y="4818888"/>
            <a:ext cx="29260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3000"/>
              <a:buFont typeface="Cambria"/>
              <a:buNone/>
            </a:pPr>
            <a:r>
              <a:rPr b="1" i="0" lang="en-US" sz="3000" u="none" cap="none" strike="noStrike">
                <a:solidFill>
                  <a:schemeClr val="accent3"/>
                </a:solidFill>
                <a:latin typeface="Cambria"/>
                <a:ea typeface="Cambria"/>
                <a:cs typeface="Cambria"/>
                <a:sym typeface="Cambria"/>
              </a:rPr>
              <a:t>100%</a:t>
            </a:r>
            <a:endParaRPr b="0" i="0" sz="3000" u="none" cap="none" strike="noStrike">
              <a:solidFill>
                <a:schemeClr val="dk1"/>
              </a:solidFill>
              <a:latin typeface="Calibri"/>
              <a:ea typeface="Calibri"/>
              <a:cs typeface="Calibri"/>
              <a:sym typeface="Calibri"/>
            </a:endParaRPr>
          </a:p>
        </p:txBody>
      </p:sp>
      <p:sp>
        <p:nvSpPr>
          <p:cNvPr id="42" name="Google Shape;42;p1"/>
          <p:cNvSpPr txBox="1"/>
          <p:nvPr/>
        </p:nvSpPr>
        <p:spPr>
          <a:xfrm>
            <a:off x="960120" y="5321808"/>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recovered on unseen incidents, vs 45% for a rule-based runbook</a:t>
            </a:r>
            <a:endParaRPr b="0" i="0" sz="1300" u="none" cap="none" strike="noStrike">
              <a:solidFill>
                <a:schemeClr val="dk1"/>
              </a:solidFill>
              <a:latin typeface="Calibri"/>
              <a:ea typeface="Calibri"/>
              <a:cs typeface="Calibri"/>
              <a:sym typeface="Calibri"/>
            </a:endParaRPr>
          </a:p>
        </p:txBody>
      </p:sp>
      <p:sp>
        <p:nvSpPr>
          <p:cNvPr id="43" name="Google Shape;43;p1"/>
          <p:cNvSpPr/>
          <p:nvPr/>
        </p:nvSpPr>
        <p:spPr>
          <a:xfrm>
            <a:off x="4343400" y="4709160"/>
            <a:ext cx="3337560" cy="1143000"/>
          </a:xfrm>
          <a:prstGeom prst="roundRect">
            <a:avLst>
              <a:gd fmla="val 9600" name="adj"/>
            </a:avLst>
          </a:prstGeom>
          <a:solidFill>
            <a:schemeClr val="accent1">
              <a:alpha val="4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txBox="1"/>
          <p:nvPr/>
        </p:nvSpPr>
        <p:spPr>
          <a:xfrm>
            <a:off x="4572000" y="4818888"/>
            <a:ext cx="29260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3000"/>
              <a:buFont typeface="Cambria"/>
              <a:buNone/>
            </a:pPr>
            <a:r>
              <a:rPr b="1" i="0" lang="en-US" sz="3000" u="none" cap="none" strike="noStrike">
                <a:solidFill>
                  <a:schemeClr val="accent3"/>
                </a:solidFill>
                <a:latin typeface="Cambria"/>
                <a:ea typeface="Cambria"/>
                <a:cs typeface="Cambria"/>
                <a:sym typeface="Cambria"/>
              </a:rPr>
              <a:t>0%</a:t>
            </a:r>
            <a:endParaRPr b="0" i="0" sz="3000" u="none" cap="none" strike="noStrike">
              <a:solidFill>
                <a:schemeClr val="dk1"/>
              </a:solidFill>
              <a:latin typeface="Calibri"/>
              <a:ea typeface="Calibri"/>
              <a:cs typeface="Calibri"/>
              <a:sym typeface="Calibri"/>
            </a:endParaRPr>
          </a:p>
        </p:txBody>
      </p:sp>
      <p:sp>
        <p:nvSpPr>
          <p:cNvPr id="45" name="Google Shape;45;p1"/>
          <p:cNvSpPr txBox="1"/>
          <p:nvPr/>
        </p:nvSpPr>
        <p:spPr>
          <a:xfrm>
            <a:off x="4572000" y="5321808"/>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false “recovered” claims, vs 70% for a single-shot LLM</a:t>
            </a:r>
            <a:endParaRPr b="0" i="0" sz="1300" u="none" cap="none" strike="noStrike">
              <a:solidFill>
                <a:schemeClr val="dk1"/>
              </a:solidFill>
              <a:latin typeface="Calibri"/>
              <a:ea typeface="Calibri"/>
              <a:cs typeface="Calibri"/>
              <a:sym typeface="Calibri"/>
            </a:endParaRPr>
          </a:p>
        </p:txBody>
      </p:sp>
      <p:sp>
        <p:nvSpPr>
          <p:cNvPr id="46" name="Google Shape;46;p1"/>
          <p:cNvSpPr/>
          <p:nvPr/>
        </p:nvSpPr>
        <p:spPr>
          <a:xfrm>
            <a:off x="7955280" y="4709160"/>
            <a:ext cx="3337560" cy="1143000"/>
          </a:xfrm>
          <a:prstGeom prst="roundRect">
            <a:avLst>
              <a:gd fmla="val 9600" name="adj"/>
            </a:avLst>
          </a:prstGeom>
          <a:solidFill>
            <a:schemeClr val="accent1">
              <a:alpha val="4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1"/>
          <p:cNvSpPr txBox="1"/>
          <p:nvPr/>
        </p:nvSpPr>
        <p:spPr>
          <a:xfrm>
            <a:off x="8183880" y="4818888"/>
            <a:ext cx="29260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3000"/>
              <a:buFont typeface="Cambria"/>
              <a:buNone/>
            </a:pPr>
            <a:r>
              <a:rPr b="1" i="0" lang="en-US" sz="3000" u="none" cap="none" strike="noStrike">
                <a:solidFill>
                  <a:schemeClr val="accent3"/>
                </a:solidFill>
                <a:latin typeface="Cambria"/>
                <a:ea typeface="Cambria"/>
                <a:cs typeface="Cambria"/>
                <a:sym typeface="Cambria"/>
              </a:rPr>
              <a:t>0</a:t>
            </a:r>
            <a:endParaRPr b="0" i="0" sz="3000" u="none" cap="none" strike="noStrike">
              <a:solidFill>
                <a:schemeClr val="dk1"/>
              </a:solidFill>
              <a:latin typeface="Calibri"/>
              <a:ea typeface="Calibri"/>
              <a:cs typeface="Calibri"/>
              <a:sym typeface="Calibri"/>
            </a:endParaRPr>
          </a:p>
        </p:txBody>
      </p:sp>
      <p:sp>
        <p:nvSpPr>
          <p:cNvPr id="48" name="Google Shape;48;p1"/>
          <p:cNvSpPr txBox="1"/>
          <p:nvPr/>
        </p:nvSpPr>
        <p:spPr>
          <a:xfrm>
            <a:off x="8183880" y="5321808"/>
            <a:ext cx="29260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harmful actions, on a fully local 7B model</a:t>
            </a:r>
            <a:endParaRPr b="0" i="0" sz="1300" u="none" cap="none" strike="noStrike">
              <a:solidFill>
                <a:schemeClr val="dk1"/>
              </a:solidFill>
              <a:latin typeface="Calibri"/>
              <a:ea typeface="Calibri"/>
              <a:cs typeface="Calibri"/>
              <a:sym typeface="Calibri"/>
            </a:endParaRPr>
          </a:p>
        </p:txBody>
      </p:sp>
      <p:sp>
        <p:nvSpPr>
          <p:cNvPr id="49" name="Google Shape;49;p1"/>
          <p:cNvSpPr txBox="1"/>
          <p:nvPr/>
        </p:nvSpPr>
        <p:spPr>
          <a:xfrm>
            <a:off x="731520" y="6172200"/>
            <a:ext cx="8229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Abdulrahman Alharbi  ·  </a:t>
            </a:r>
            <a:r>
              <a:rPr b="0" i="0" lang="en-US" sz="1300" u="sng" cap="none" strike="noStrike">
                <a:solidFill>
                  <a:schemeClr val="accent3"/>
                </a:solidFill>
                <a:latin typeface="Calibri"/>
                <a:ea typeface="Calibri"/>
                <a:cs typeface="Calibri"/>
                <a:sym typeface="Calibri"/>
                <a:hlinkClick r:id="rId4">
                  <a:extLst>
                    <a:ext uri="{A12FA001-AC4F-418D-AE19-62706E023703}">
                      <ahyp:hlinkClr val="tx"/>
                    </a:ext>
                  </a:extLst>
                </a:hlinkClick>
              </a:rPr>
              <a:t>abdulalharbi.github.io/sentinel-rx</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2"/>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latin typeface="Cambria"/>
                <a:ea typeface="Cambria"/>
                <a:cs typeface="Cambria"/>
                <a:sym typeface="Cambria"/>
              </a:rPr>
              <a:t>About me</a:t>
            </a:r>
            <a:endParaRPr sz="3600"/>
          </a:p>
        </p:txBody>
      </p:sp>
      <p:pic>
        <p:nvPicPr>
          <p:cNvPr id="56" name="Google Shape;56;p2" title="Screenshot 2026-10-30 at 5.54.01 PM.png"/>
          <p:cNvPicPr preferRelativeResize="0"/>
          <p:nvPr>
            <p:ph idx="1" type="body"/>
          </p:nvPr>
        </p:nvPicPr>
        <p:blipFill rotWithShape="1">
          <a:blip r:embed="rId3">
            <a:alphaModFix/>
          </a:blip>
          <a:srcRect b="14764" l="0" r="0" t="14764"/>
          <a:stretch/>
        </p:blipFill>
        <p:spPr>
          <a:xfrm>
            <a:off x="548640" y="1325880"/>
            <a:ext cx="2926200" cy="3246000"/>
          </a:xfrm>
          <a:prstGeom prst="rect">
            <a:avLst/>
          </a:prstGeom>
          <a:noFill/>
          <a:ln>
            <a:noFill/>
          </a:ln>
        </p:spPr>
      </p:pic>
      <p:sp>
        <p:nvSpPr>
          <p:cNvPr id="57" name="Google Shape;57;p2"/>
          <p:cNvSpPr txBox="1"/>
          <p:nvPr/>
        </p:nvSpPr>
        <p:spPr>
          <a:xfrm>
            <a:off x="548640" y="470916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Abdulrahman Alharbi</a:t>
            </a:r>
            <a:endParaRPr b="0" i="0" sz="1800" u="none" cap="none" strike="noStrike">
              <a:solidFill>
                <a:schemeClr val="dk1"/>
              </a:solidFill>
              <a:latin typeface="Calibri"/>
              <a:ea typeface="Calibri"/>
              <a:cs typeface="Calibri"/>
              <a:sym typeface="Calibri"/>
            </a:endParaRPr>
          </a:p>
        </p:txBody>
      </p:sp>
      <p:sp>
        <p:nvSpPr>
          <p:cNvPr id="58" name="Google Shape;58;p2"/>
          <p:cNvSpPr txBox="1"/>
          <p:nvPr/>
        </p:nvSpPr>
        <p:spPr>
          <a:xfrm>
            <a:off x="548640" y="5074920"/>
            <a:ext cx="3017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Computer scientist, AI &amp; cybersecurity</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Riyadh, Saudi Arabia</a:t>
            </a:r>
            <a:endParaRPr b="0" i="0" sz="1300" u="none" cap="none" strike="noStrike">
              <a:solidFill>
                <a:schemeClr val="dk1"/>
              </a:solidFill>
              <a:latin typeface="Calibri"/>
              <a:ea typeface="Calibri"/>
              <a:cs typeface="Calibri"/>
              <a:sym typeface="Calibri"/>
            </a:endParaRPr>
          </a:p>
        </p:txBody>
      </p:sp>
      <p:sp>
        <p:nvSpPr>
          <p:cNvPr id="59" name="Google Shape;59;p2"/>
          <p:cNvSpPr txBox="1"/>
          <p:nvPr/>
        </p:nvSpPr>
        <p:spPr>
          <a:xfrm>
            <a:off x="548640" y="5669280"/>
            <a:ext cx="3017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0" i="0" lang="en-US" sz="1200" u="sng" cap="none" strike="noStrike">
                <a:solidFill>
                  <a:schemeClr val="accent1"/>
                </a:solidFill>
                <a:latin typeface="Calibri"/>
                <a:ea typeface="Calibri"/>
                <a:cs typeface="Calibri"/>
                <a:sym typeface="Calibri"/>
                <a:hlinkClick r:id="rId4">
                  <a:extLst>
                    <a:ext uri="{A12FA001-AC4F-418D-AE19-62706E023703}">
                      <ahyp:hlinkClr val="tx"/>
                    </a:ext>
                  </a:extLst>
                </a:hlinkClick>
              </a:rPr>
              <a:t>alharbi.ams@outlook.com</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200"/>
              <a:buFont typeface="Calibri"/>
              <a:buNone/>
            </a:pPr>
            <a:r>
              <a:rPr b="0" i="0" lang="en-US" sz="1200" u="sng" cap="none" strike="noStrike">
                <a:solidFill>
                  <a:schemeClr val="accent1"/>
                </a:solidFill>
                <a:latin typeface="Calibri"/>
                <a:ea typeface="Calibri"/>
                <a:cs typeface="Calibri"/>
                <a:sym typeface="Calibri"/>
                <a:hlinkClick r:id="rId5">
                  <a:extLst>
                    <a:ext uri="{A12FA001-AC4F-418D-AE19-62706E023703}">
                      <ahyp:hlinkClr val="tx"/>
                    </a:ext>
                  </a:extLst>
                </a:hlinkClick>
              </a:rPr>
              <a:t>LinkedIn</a:t>
            </a:r>
            <a:endParaRPr b="0" i="0" sz="1200" u="none" cap="none" strike="noStrike">
              <a:solidFill>
                <a:schemeClr val="dk1"/>
              </a:solidFill>
              <a:latin typeface="Calibri"/>
              <a:ea typeface="Calibri"/>
              <a:cs typeface="Calibri"/>
              <a:sym typeface="Calibri"/>
            </a:endParaRPr>
          </a:p>
        </p:txBody>
      </p:sp>
      <p:sp>
        <p:nvSpPr>
          <p:cNvPr id="60" name="Google Shape;60;p2"/>
          <p:cNvSpPr/>
          <p:nvPr/>
        </p:nvSpPr>
        <p:spPr>
          <a:xfrm>
            <a:off x="3886200" y="1325880"/>
            <a:ext cx="3749040" cy="2286000"/>
          </a:xfrm>
          <a:prstGeom prst="roundRect">
            <a:avLst>
              <a:gd fmla="val 48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4114800" y="155448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ducation icon" id="62" name="Google Shape;62;p2"/>
          <p:cNvPicPr preferRelativeResize="0"/>
          <p:nvPr/>
        </p:nvPicPr>
        <p:blipFill rotWithShape="1">
          <a:blip r:embed="rId6">
            <a:alphaModFix/>
          </a:blip>
          <a:srcRect b="0" l="0" r="0" t="0"/>
          <a:stretch/>
        </p:blipFill>
        <p:spPr>
          <a:xfrm>
            <a:off x="4238244" y="1677924"/>
            <a:ext cx="210312" cy="210312"/>
          </a:xfrm>
          <a:prstGeom prst="rect">
            <a:avLst/>
          </a:prstGeom>
          <a:noFill/>
          <a:ln>
            <a:noFill/>
          </a:ln>
        </p:spPr>
      </p:pic>
      <p:sp>
        <p:nvSpPr>
          <p:cNvPr id="63" name="Google Shape;63;p2"/>
          <p:cNvSpPr txBox="1"/>
          <p:nvPr/>
        </p:nvSpPr>
        <p:spPr>
          <a:xfrm>
            <a:off x="4709160" y="1600200"/>
            <a:ext cx="2743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mbria"/>
              <a:buNone/>
            </a:pPr>
            <a:r>
              <a:rPr b="1" i="0" lang="en-US" sz="1700" u="none" cap="none" strike="noStrike">
                <a:solidFill>
                  <a:schemeClr val="dk2"/>
                </a:solidFill>
                <a:latin typeface="Cambria"/>
                <a:ea typeface="Cambria"/>
                <a:cs typeface="Cambria"/>
                <a:sym typeface="Cambria"/>
              </a:rPr>
              <a:t>Education</a:t>
            </a:r>
            <a:endParaRPr b="0" i="0" sz="1700" u="none" cap="none" strike="noStrike">
              <a:solidFill>
                <a:schemeClr val="dk1"/>
              </a:solidFill>
              <a:latin typeface="Calibri"/>
              <a:ea typeface="Calibri"/>
              <a:cs typeface="Calibri"/>
              <a:sym typeface="Calibri"/>
            </a:endParaRPr>
          </a:p>
        </p:txBody>
      </p:sp>
      <p:sp>
        <p:nvSpPr>
          <p:cNvPr id="64" name="Google Shape;64;p2"/>
          <p:cNvSpPr txBox="1"/>
          <p:nvPr/>
        </p:nvSpPr>
        <p:spPr>
          <a:xfrm>
            <a:off x="4114800" y="2148840"/>
            <a:ext cx="333756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M.S. Computer Science, UNLV (2026), GPA 3.92, specializing in AI and cybersecurity</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B.S. Computer Science, Information Assurance, UNLV (2025)</a:t>
            </a:r>
            <a:endParaRPr b="0" i="0" sz="1300" u="none" cap="none" strike="noStrike">
              <a:solidFill>
                <a:schemeClr val="dk1"/>
              </a:solidFill>
              <a:latin typeface="Calibri"/>
              <a:ea typeface="Calibri"/>
              <a:cs typeface="Calibri"/>
              <a:sym typeface="Calibri"/>
            </a:endParaRPr>
          </a:p>
        </p:txBody>
      </p:sp>
      <p:sp>
        <p:nvSpPr>
          <p:cNvPr id="65" name="Google Shape;65;p2"/>
          <p:cNvSpPr/>
          <p:nvPr/>
        </p:nvSpPr>
        <p:spPr>
          <a:xfrm>
            <a:off x="7863840" y="1325880"/>
            <a:ext cx="3749040" cy="2286000"/>
          </a:xfrm>
          <a:prstGeom prst="roundRect">
            <a:avLst>
              <a:gd fmla="val 48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7863840" y="1325880"/>
            <a:ext cx="3749040" cy="2286000"/>
          </a:xfrm>
          <a:prstGeom prst="roundRect">
            <a:avLst>
              <a:gd fmla="val 4800" name="adj"/>
            </a:avLst>
          </a:prstGeom>
          <a:solidFill>
            <a:schemeClr val="lt1">
              <a:alpha val="3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8092440" y="155448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esearch icon" id="68" name="Google Shape;68;p2"/>
          <p:cNvPicPr preferRelativeResize="0"/>
          <p:nvPr/>
        </p:nvPicPr>
        <p:blipFill rotWithShape="1">
          <a:blip r:embed="rId7">
            <a:alphaModFix/>
          </a:blip>
          <a:srcRect b="0" l="0" r="0" t="0"/>
          <a:stretch/>
        </p:blipFill>
        <p:spPr>
          <a:xfrm>
            <a:off x="8215884" y="1677924"/>
            <a:ext cx="210312" cy="210312"/>
          </a:xfrm>
          <a:prstGeom prst="rect">
            <a:avLst/>
          </a:prstGeom>
          <a:noFill/>
          <a:ln>
            <a:noFill/>
          </a:ln>
        </p:spPr>
      </p:pic>
      <p:sp>
        <p:nvSpPr>
          <p:cNvPr id="69" name="Google Shape;69;p2"/>
          <p:cNvSpPr txBox="1"/>
          <p:nvPr/>
        </p:nvSpPr>
        <p:spPr>
          <a:xfrm>
            <a:off x="8686800" y="1600200"/>
            <a:ext cx="2743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mbria"/>
              <a:buNone/>
            </a:pPr>
            <a:r>
              <a:rPr b="1" i="0" lang="en-US" sz="1700" u="none" cap="none" strike="noStrike">
                <a:solidFill>
                  <a:schemeClr val="dk2"/>
                </a:solidFill>
                <a:latin typeface="Cambria"/>
                <a:ea typeface="Cambria"/>
                <a:cs typeface="Cambria"/>
                <a:sym typeface="Cambria"/>
              </a:rPr>
              <a:t>Research</a:t>
            </a:r>
            <a:endParaRPr b="0" i="0" sz="1700" u="none" cap="none" strike="noStrike">
              <a:solidFill>
                <a:schemeClr val="dk1"/>
              </a:solidFill>
              <a:latin typeface="Calibri"/>
              <a:ea typeface="Calibri"/>
              <a:cs typeface="Calibri"/>
              <a:sym typeface="Calibri"/>
            </a:endParaRPr>
          </a:p>
        </p:txBody>
      </p:sp>
      <p:sp>
        <p:nvSpPr>
          <p:cNvPr id="70" name="Google Shape;70;p2"/>
          <p:cNvSpPr txBox="1"/>
          <p:nvPr/>
        </p:nvSpPr>
        <p:spPr>
          <a:xfrm>
            <a:off x="8092440" y="2148840"/>
            <a:ext cx="333756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Master’s thesis: periodicity-based triage of APT command-and-control beaconing in encrypted network flows with machine learning</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AP 0.852 vs 0.046 baseline; up to 99% less analyst workload. </a:t>
            </a:r>
            <a:endParaRPr b="0" i="0" sz="1300" u="none" cap="none" strike="noStrike">
              <a:solidFill>
                <a:schemeClr val="dk1"/>
              </a:solidFill>
              <a:latin typeface="Calibri"/>
              <a:ea typeface="Calibri"/>
              <a:cs typeface="Calibri"/>
              <a:sym typeface="Calibri"/>
            </a:endParaRPr>
          </a:p>
        </p:txBody>
      </p:sp>
      <p:sp>
        <p:nvSpPr>
          <p:cNvPr id="71" name="Google Shape;71;p2"/>
          <p:cNvSpPr/>
          <p:nvPr/>
        </p:nvSpPr>
        <p:spPr>
          <a:xfrm>
            <a:off x="3886200" y="3840480"/>
            <a:ext cx="3749040" cy="2286000"/>
          </a:xfrm>
          <a:prstGeom prst="roundRect">
            <a:avLst>
              <a:gd fmla="val 48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4114800" y="406908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xperience icon" id="73" name="Google Shape;73;p2"/>
          <p:cNvPicPr preferRelativeResize="0"/>
          <p:nvPr/>
        </p:nvPicPr>
        <p:blipFill rotWithShape="1">
          <a:blip r:embed="rId8">
            <a:alphaModFix/>
          </a:blip>
          <a:srcRect b="0" l="0" r="0" t="0"/>
          <a:stretch/>
        </p:blipFill>
        <p:spPr>
          <a:xfrm>
            <a:off x="4238244" y="4192524"/>
            <a:ext cx="210312" cy="210312"/>
          </a:xfrm>
          <a:prstGeom prst="rect">
            <a:avLst/>
          </a:prstGeom>
          <a:noFill/>
          <a:ln>
            <a:noFill/>
          </a:ln>
        </p:spPr>
      </p:pic>
      <p:sp>
        <p:nvSpPr>
          <p:cNvPr id="74" name="Google Shape;74;p2"/>
          <p:cNvSpPr txBox="1"/>
          <p:nvPr/>
        </p:nvSpPr>
        <p:spPr>
          <a:xfrm>
            <a:off x="4709160" y="4114800"/>
            <a:ext cx="2743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mbria"/>
              <a:buNone/>
            </a:pPr>
            <a:r>
              <a:rPr b="1" i="0" lang="en-US" sz="1700" u="none" cap="none" strike="noStrike">
                <a:solidFill>
                  <a:schemeClr val="dk2"/>
                </a:solidFill>
                <a:latin typeface="Cambria"/>
                <a:ea typeface="Cambria"/>
                <a:cs typeface="Cambria"/>
                <a:sym typeface="Cambria"/>
              </a:rPr>
              <a:t>Experience</a:t>
            </a:r>
            <a:endParaRPr b="0" i="0" sz="1700" u="none" cap="none" strike="noStrike">
              <a:solidFill>
                <a:schemeClr val="dk1"/>
              </a:solidFill>
              <a:latin typeface="Calibri"/>
              <a:ea typeface="Calibri"/>
              <a:cs typeface="Calibri"/>
              <a:sym typeface="Calibri"/>
            </a:endParaRPr>
          </a:p>
        </p:txBody>
      </p:sp>
      <p:sp>
        <p:nvSpPr>
          <p:cNvPr id="75" name="Google Shape;75;p2"/>
          <p:cNvSpPr txBox="1"/>
          <p:nvPr/>
        </p:nvSpPr>
        <p:spPr>
          <a:xfrm>
            <a:off x="4114800" y="4663440"/>
            <a:ext cx="333756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Software Engineer in Test, UNLV Office of Information Technology</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Test automation and CI/CD across 3 app versions; helped adopt enterprise generative AI in engineering</a:t>
            </a:r>
            <a:endParaRPr b="0" i="0" sz="1300" u="none" cap="none" strike="noStrike">
              <a:solidFill>
                <a:schemeClr val="dk1"/>
              </a:solidFill>
              <a:latin typeface="Calibri"/>
              <a:ea typeface="Calibri"/>
              <a:cs typeface="Calibri"/>
              <a:sym typeface="Calibri"/>
            </a:endParaRPr>
          </a:p>
        </p:txBody>
      </p:sp>
      <p:sp>
        <p:nvSpPr>
          <p:cNvPr id="76" name="Google Shape;76;p2"/>
          <p:cNvSpPr/>
          <p:nvPr/>
        </p:nvSpPr>
        <p:spPr>
          <a:xfrm>
            <a:off x="7863840" y="3840480"/>
            <a:ext cx="3749040" cy="2286000"/>
          </a:xfrm>
          <a:prstGeom prst="roundRect">
            <a:avLst>
              <a:gd fmla="val 48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8092440" y="406908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ertifications icon" id="78" name="Google Shape;78;p2"/>
          <p:cNvPicPr preferRelativeResize="0"/>
          <p:nvPr/>
        </p:nvPicPr>
        <p:blipFill rotWithShape="1">
          <a:blip r:embed="rId9">
            <a:alphaModFix/>
          </a:blip>
          <a:srcRect b="0" l="0" r="0" t="0"/>
          <a:stretch/>
        </p:blipFill>
        <p:spPr>
          <a:xfrm>
            <a:off x="8215884" y="4192524"/>
            <a:ext cx="210312" cy="210312"/>
          </a:xfrm>
          <a:prstGeom prst="rect">
            <a:avLst/>
          </a:prstGeom>
          <a:noFill/>
          <a:ln>
            <a:noFill/>
          </a:ln>
        </p:spPr>
      </p:pic>
      <p:sp>
        <p:nvSpPr>
          <p:cNvPr id="79" name="Google Shape;79;p2"/>
          <p:cNvSpPr txBox="1"/>
          <p:nvPr/>
        </p:nvSpPr>
        <p:spPr>
          <a:xfrm>
            <a:off x="8686800" y="4114800"/>
            <a:ext cx="2743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mbria"/>
              <a:buNone/>
            </a:pPr>
            <a:r>
              <a:rPr b="1" i="0" lang="en-US" sz="1700" u="none" cap="none" strike="noStrike">
                <a:solidFill>
                  <a:schemeClr val="dk2"/>
                </a:solidFill>
                <a:latin typeface="Cambria"/>
                <a:ea typeface="Cambria"/>
                <a:cs typeface="Cambria"/>
                <a:sym typeface="Cambria"/>
              </a:rPr>
              <a:t>Certifications</a:t>
            </a:r>
            <a:endParaRPr b="0" i="0" sz="1700" u="none" cap="none" strike="noStrike">
              <a:solidFill>
                <a:schemeClr val="dk1"/>
              </a:solidFill>
              <a:latin typeface="Calibri"/>
              <a:ea typeface="Calibri"/>
              <a:cs typeface="Calibri"/>
              <a:sym typeface="Calibri"/>
            </a:endParaRPr>
          </a:p>
        </p:txBody>
      </p:sp>
      <p:sp>
        <p:nvSpPr>
          <p:cNvPr id="80" name="Google Shape;80;p2"/>
          <p:cNvSpPr txBox="1"/>
          <p:nvPr/>
        </p:nvSpPr>
        <p:spPr>
          <a:xfrm>
            <a:off x="8092440" y="4663440"/>
            <a:ext cx="3337560" cy="137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1300">
                <a:solidFill>
                  <a:schemeClr val="dk1"/>
                </a:solidFill>
                <a:latin typeface="Calibri"/>
                <a:ea typeface="Calibri"/>
                <a:cs typeface="Calibri"/>
                <a:sym typeface="Calibri"/>
              </a:rPr>
              <a:t>NSA CAE-CD: Information Assurance</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300">
                <a:solidFill>
                  <a:schemeClr val="dk1"/>
                </a:solidFill>
                <a:latin typeface="Calibri"/>
                <a:ea typeface="Calibri"/>
                <a:cs typeface="Calibri"/>
                <a:sym typeface="Calibri"/>
              </a:rPr>
              <a:t>AWS Academy Cloud Foundations</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SDAIA: Fundamentals of Artificial Intelligence</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SDAIA: AI Concepts and Advanced Applications</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81" name="Google Shape;81;p2"/>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3"/>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latin typeface="Cambria"/>
                <a:ea typeface="Cambria"/>
                <a:cs typeface="Cambria"/>
                <a:sym typeface="Cambria"/>
              </a:rPr>
              <a:t>The problem: failures rarely come alone</a:t>
            </a:r>
            <a:endParaRPr sz="3600"/>
          </a:p>
        </p:txBody>
      </p:sp>
      <p:sp>
        <p:nvSpPr>
          <p:cNvPr id="88" name="Google Shape;88;p3"/>
          <p:cNvSpPr/>
          <p:nvPr/>
        </p:nvSpPr>
        <p:spPr>
          <a:xfrm>
            <a:off x="548640" y="141732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aults stack and confound" id="89" name="Google Shape;89;p3"/>
          <p:cNvPicPr preferRelativeResize="0"/>
          <p:nvPr/>
        </p:nvPicPr>
        <p:blipFill rotWithShape="1">
          <a:blip r:embed="rId3">
            <a:alphaModFix/>
          </a:blip>
          <a:srcRect b="0" l="0" r="0" t="0"/>
          <a:stretch/>
        </p:blipFill>
        <p:spPr>
          <a:xfrm>
            <a:off x="721462" y="1590142"/>
            <a:ext cx="294437" cy="294437"/>
          </a:xfrm>
          <a:prstGeom prst="rect">
            <a:avLst/>
          </a:prstGeom>
          <a:noFill/>
          <a:ln>
            <a:noFill/>
          </a:ln>
        </p:spPr>
      </p:pic>
      <p:sp>
        <p:nvSpPr>
          <p:cNvPr id="90" name="Google Shape;90;p3"/>
          <p:cNvSpPr txBox="1"/>
          <p:nvPr/>
        </p:nvSpPr>
        <p:spPr>
          <a:xfrm>
            <a:off x="1417320" y="1399032"/>
            <a:ext cx="5394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Cambria"/>
              <a:buNone/>
            </a:pPr>
            <a:r>
              <a:rPr b="1" i="0" lang="en-US" sz="2000" u="none" cap="none" strike="noStrike">
                <a:solidFill>
                  <a:schemeClr val="dk2"/>
                </a:solidFill>
                <a:latin typeface="Cambria"/>
                <a:ea typeface="Cambria"/>
                <a:cs typeface="Cambria"/>
                <a:sym typeface="Cambria"/>
              </a:rPr>
              <a:t>Faults stack and confound</a:t>
            </a:r>
            <a:endParaRPr b="0" i="0" sz="2000" u="none" cap="none" strike="noStrike">
              <a:solidFill>
                <a:schemeClr val="dk1"/>
              </a:solidFill>
              <a:latin typeface="Calibri"/>
              <a:ea typeface="Calibri"/>
              <a:cs typeface="Calibri"/>
              <a:sym typeface="Calibri"/>
            </a:endParaRPr>
          </a:p>
        </p:txBody>
      </p:sp>
      <p:sp>
        <p:nvSpPr>
          <p:cNvPr id="91" name="Google Shape;91;p3"/>
          <p:cNvSpPr txBox="1"/>
          <p:nvPr/>
        </p:nvSpPr>
        <p:spPr>
          <a:xfrm>
            <a:off x="1417320" y="1828800"/>
            <a:ext cx="5394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 saturated database pool makes the API look broken. Fix the symptom and the cause stays.</a:t>
            </a:r>
            <a:endParaRPr b="0" i="0" sz="1500" u="none" cap="none" strike="noStrike">
              <a:solidFill>
                <a:schemeClr val="dk1"/>
              </a:solidFill>
              <a:latin typeface="Calibri"/>
              <a:ea typeface="Calibri"/>
              <a:cs typeface="Calibri"/>
              <a:sym typeface="Calibri"/>
            </a:endParaRPr>
          </a:p>
        </p:txBody>
      </p:sp>
      <p:sp>
        <p:nvSpPr>
          <p:cNvPr id="92" name="Google Shape;92;p3"/>
          <p:cNvSpPr/>
          <p:nvPr/>
        </p:nvSpPr>
        <p:spPr>
          <a:xfrm>
            <a:off x="548640" y="301752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ttacks hide inside outages" id="93" name="Google Shape;93;p3"/>
          <p:cNvPicPr preferRelativeResize="0"/>
          <p:nvPr/>
        </p:nvPicPr>
        <p:blipFill rotWithShape="1">
          <a:blip r:embed="rId4">
            <a:alphaModFix/>
          </a:blip>
          <a:srcRect b="0" l="0" r="0" t="0"/>
          <a:stretch/>
        </p:blipFill>
        <p:spPr>
          <a:xfrm>
            <a:off x="721462" y="3190342"/>
            <a:ext cx="294437" cy="294437"/>
          </a:xfrm>
          <a:prstGeom prst="rect">
            <a:avLst/>
          </a:prstGeom>
          <a:noFill/>
          <a:ln>
            <a:noFill/>
          </a:ln>
        </p:spPr>
      </p:pic>
      <p:sp>
        <p:nvSpPr>
          <p:cNvPr id="94" name="Google Shape;94;p3"/>
          <p:cNvSpPr txBox="1"/>
          <p:nvPr/>
        </p:nvSpPr>
        <p:spPr>
          <a:xfrm>
            <a:off x="1417320" y="2999232"/>
            <a:ext cx="5394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Cambria"/>
              <a:buNone/>
            </a:pPr>
            <a:r>
              <a:rPr b="1" i="0" lang="en-US" sz="2000" u="none" cap="none" strike="noStrike">
                <a:solidFill>
                  <a:schemeClr val="dk2"/>
                </a:solidFill>
                <a:latin typeface="Cambria"/>
                <a:ea typeface="Cambria"/>
                <a:cs typeface="Cambria"/>
                <a:sym typeface="Cambria"/>
              </a:rPr>
              <a:t>Attacks hide inside outages</a:t>
            </a:r>
            <a:endParaRPr b="0" i="0" sz="2000" u="none" cap="none" strike="noStrike">
              <a:solidFill>
                <a:schemeClr val="dk1"/>
              </a:solidFill>
              <a:latin typeface="Calibri"/>
              <a:ea typeface="Calibri"/>
              <a:cs typeface="Calibri"/>
              <a:sym typeface="Calibri"/>
            </a:endParaRPr>
          </a:p>
        </p:txBody>
      </p:sp>
      <p:sp>
        <p:nvSpPr>
          <p:cNvPr id="95" name="Google Shape;95;p3"/>
          <p:cNvSpPr txBox="1"/>
          <p:nvPr/>
        </p:nvSpPr>
        <p:spPr>
          <a:xfrm>
            <a:off x="1417320" y="3429000"/>
            <a:ext cx="5394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Restarting a host that carries a command-and-control implant destroys evidence and re-infects it. Ops tooling doesn’t check.</a:t>
            </a:r>
            <a:endParaRPr b="0" i="0" sz="1500" u="none" cap="none" strike="noStrike">
              <a:solidFill>
                <a:schemeClr val="dk1"/>
              </a:solidFill>
              <a:latin typeface="Calibri"/>
              <a:ea typeface="Calibri"/>
              <a:cs typeface="Calibri"/>
              <a:sym typeface="Calibri"/>
            </a:endParaRPr>
          </a:p>
        </p:txBody>
      </p:sp>
      <p:sp>
        <p:nvSpPr>
          <p:cNvPr id="96" name="Google Shape;96;p3"/>
          <p:cNvSpPr/>
          <p:nvPr/>
        </p:nvSpPr>
        <p:spPr>
          <a:xfrm>
            <a:off x="548640" y="461772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ecovered” is claimed, not proven" id="97" name="Google Shape;97;p3"/>
          <p:cNvPicPr preferRelativeResize="0"/>
          <p:nvPr/>
        </p:nvPicPr>
        <p:blipFill rotWithShape="1">
          <a:blip r:embed="rId5">
            <a:alphaModFix/>
          </a:blip>
          <a:srcRect b="0" l="0" r="0" t="0"/>
          <a:stretch/>
        </p:blipFill>
        <p:spPr>
          <a:xfrm>
            <a:off x="721462" y="4790542"/>
            <a:ext cx="294437" cy="294437"/>
          </a:xfrm>
          <a:prstGeom prst="rect">
            <a:avLst/>
          </a:prstGeom>
          <a:noFill/>
          <a:ln>
            <a:noFill/>
          </a:ln>
        </p:spPr>
      </p:pic>
      <p:sp>
        <p:nvSpPr>
          <p:cNvPr id="98" name="Google Shape;98;p3"/>
          <p:cNvSpPr txBox="1"/>
          <p:nvPr/>
        </p:nvSpPr>
        <p:spPr>
          <a:xfrm>
            <a:off x="1417320" y="4599432"/>
            <a:ext cx="5394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Cambria"/>
              <a:buNone/>
            </a:pPr>
            <a:r>
              <a:rPr b="1" i="0" lang="en-US" sz="2000" u="none" cap="none" strike="noStrike">
                <a:solidFill>
                  <a:schemeClr val="dk2"/>
                </a:solidFill>
                <a:latin typeface="Cambria"/>
                <a:ea typeface="Cambria"/>
                <a:cs typeface="Cambria"/>
                <a:sym typeface="Cambria"/>
              </a:rPr>
              <a:t>“Recovered” is claimed, not proven</a:t>
            </a:r>
            <a:endParaRPr b="0" i="0" sz="2000" u="none" cap="none" strike="noStrike">
              <a:solidFill>
                <a:schemeClr val="dk1"/>
              </a:solidFill>
              <a:latin typeface="Calibri"/>
              <a:ea typeface="Calibri"/>
              <a:cs typeface="Calibri"/>
              <a:sym typeface="Calibri"/>
            </a:endParaRPr>
          </a:p>
        </p:txBody>
      </p:sp>
      <p:sp>
        <p:nvSpPr>
          <p:cNvPr id="99" name="Google Shape;99;p3"/>
          <p:cNvSpPr txBox="1"/>
          <p:nvPr/>
        </p:nvSpPr>
        <p:spPr>
          <a:xfrm>
            <a:off x="1417320" y="5029200"/>
            <a:ext cx="5394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On our unseen test incidents, a single-shot LLM declared recovery falsely in 70% of runs.</a:t>
            </a:r>
            <a:endParaRPr b="0" i="0" sz="1500" u="none" cap="none" strike="noStrike">
              <a:solidFill>
                <a:schemeClr val="dk1"/>
              </a:solidFill>
              <a:latin typeface="Calibri"/>
              <a:ea typeface="Calibri"/>
              <a:cs typeface="Calibri"/>
              <a:sym typeface="Calibri"/>
            </a:endParaRPr>
          </a:p>
        </p:txBody>
      </p:sp>
      <p:sp>
        <p:nvSpPr>
          <p:cNvPr id="100" name="Google Shape;100;p3"/>
          <p:cNvSpPr/>
          <p:nvPr/>
        </p:nvSpPr>
        <p:spPr>
          <a:xfrm>
            <a:off x="7269480" y="1325880"/>
            <a:ext cx="4389120" cy="4754880"/>
          </a:xfrm>
          <a:prstGeom prst="roundRect">
            <a:avLst>
              <a:gd fmla="val 25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txBox="1"/>
          <p:nvPr/>
        </p:nvSpPr>
        <p:spPr>
          <a:xfrm>
            <a:off x="7589520" y="1600200"/>
            <a:ext cx="3749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200"/>
              <a:buFont typeface="Cambria"/>
              <a:buNone/>
            </a:pPr>
            <a:r>
              <a:rPr b="1" i="0" lang="en-US" sz="2200" u="none" cap="none" strike="noStrike">
                <a:solidFill>
                  <a:schemeClr val="lt1"/>
                </a:solidFill>
                <a:latin typeface="Cambria"/>
                <a:ea typeface="Cambria"/>
                <a:cs typeface="Cambria"/>
                <a:sym typeface="Cambria"/>
              </a:rPr>
              <a:t>Why it matters</a:t>
            </a:r>
            <a:endParaRPr b="0" i="0" sz="2200" u="none" cap="none" strike="noStrike">
              <a:solidFill>
                <a:schemeClr val="dk1"/>
              </a:solidFill>
              <a:latin typeface="Calibri"/>
              <a:ea typeface="Calibri"/>
              <a:cs typeface="Calibri"/>
              <a:sym typeface="Calibri"/>
            </a:endParaRPr>
          </a:p>
        </p:txBody>
      </p:sp>
      <p:sp>
        <p:nvSpPr>
          <p:cNvPr id="102" name="Google Shape;102;p3"/>
          <p:cNvSpPr/>
          <p:nvPr/>
        </p:nvSpPr>
        <p:spPr>
          <a:xfrm>
            <a:off x="7589520" y="228600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al" id="103" name="Google Shape;103;p3"/>
          <p:cNvPicPr preferRelativeResize="0"/>
          <p:nvPr/>
        </p:nvPicPr>
        <p:blipFill rotWithShape="1">
          <a:blip r:embed="rId6">
            <a:alphaModFix/>
          </a:blip>
          <a:srcRect b="0" l="0" r="0" t="0"/>
          <a:stretch/>
        </p:blipFill>
        <p:spPr>
          <a:xfrm>
            <a:off x="7712964" y="2409444"/>
            <a:ext cx="210312" cy="210312"/>
          </a:xfrm>
          <a:prstGeom prst="rect">
            <a:avLst/>
          </a:prstGeom>
          <a:noFill/>
          <a:ln>
            <a:noFill/>
          </a:ln>
        </p:spPr>
      </p:pic>
      <p:sp>
        <p:nvSpPr>
          <p:cNvPr id="104" name="Google Shape;104;p3"/>
          <p:cNvSpPr txBox="1"/>
          <p:nvPr/>
        </p:nvSpPr>
        <p:spPr>
          <a:xfrm>
            <a:off x="8183880" y="2267712"/>
            <a:ext cx="324612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Local</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Saudi enterprises and government systems need AI operations that keep logs and security data inside the organization, on sovereign infrastructure.</a:t>
            </a:r>
            <a:endParaRPr b="0" i="0" sz="1400" u="none" cap="none" strike="noStrike">
              <a:solidFill>
                <a:schemeClr val="dk1"/>
              </a:solidFill>
              <a:latin typeface="Calibri"/>
              <a:ea typeface="Calibri"/>
              <a:cs typeface="Calibri"/>
              <a:sym typeface="Calibri"/>
            </a:endParaRPr>
          </a:p>
        </p:txBody>
      </p:sp>
      <p:sp>
        <p:nvSpPr>
          <p:cNvPr id="105" name="Google Shape;105;p3"/>
          <p:cNvSpPr/>
          <p:nvPr/>
        </p:nvSpPr>
        <p:spPr>
          <a:xfrm>
            <a:off x="7589520" y="406908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al" id="106" name="Google Shape;106;p3"/>
          <p:cNvPicPr preferRelativeResize="0"/>
          <p:nvPr/>
        </p:nvPicPr>
        <p:blipFill rotWithShape="1">
          <a:blip r:embed="rId7">
            <a:alphaModFix/>
          </a:blip>
          <a:srcRect b="0" l="0" r="0" t="0"/>
          <a:stretch/>
        </p:blipFill>
        <p:spPr>
          <a:xfrm>
            <a:off x="7712964" y="4192524"/>
            <a:ext cx="210312" cy="210312"/>
          </a:xfrm>
          <a:prstGeom prst="rect">
            <a:avLst/>
          </a:prstGeom>
          <a:noFill/>
          <a:ln>
            <a:noFill/>
          </a:ln>
        </p:spPr>
      </p:pic>
      <p:sp>
        <p:nvSpPr>
          <p:cNvPr id="107" name="Google Shape;107;p3"/>
          <p:cNvSpPr txBox="1"/>
          <p:nvPr/>
        </p:nvSpPr>
        <p:spPr>
          <a:xfrm>
            <a:off x="8183880" y="4050792"/>
            <a:ext cx="324612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Global</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Incident response is one of the most expensive, least automated parts of running software, and systems grow faster than on-call teams.</a:t>
            </a:r>
            <a:endParaRPr b="0" i="0" sz="1400" u="none" cap="none" strike="noStrike">
              <a:solidFill>
                <a:schemeClr val="dk1"/>
              </a:solidFill>
              <a:latin typeface="Calibri"/>
              <a:ea typeface="Calibri"/>
              <a:cs typeface="Calibri"/>
              <a:sym typeface="Calibri"/>
            </a:endParaRPr>
          </a:p>
        </p:txBody>
      </p:sp>
      <p:sp>
        <p:nvSpPr>
          <p:cNvPr id="108" name="Google Shape;108;p3"/>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latin typeface="Cambria"/>
                <a:ea typeface="Cambria"/>
                <a:cs typeface="Cambria"/>
                <a:sym typeface="Cambria"/>
              </a:rPr>
              <a:t>Research first: five gaps in the literature</a:t>
            </a:r>
            <a:endParaRPr sz="3600"/>
          </a:p>
        </p:txBody>
      </p:sp>
      <p:sp>
        <p:nvSpPr>
          <p:cNvPr id="115" name="Google Shape;115;p4"/>
          <p:cNvSpPr txBox="1"/>
          <p:nvPr/>
        </p:nvSpPr>
        <p:spPr>
          <a:xfrm>
            <a:off x="548640" y="1234440"/>
            <a:ext cx="110642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My structured literature review of AIOps, LLM agents, agentic SRE benchmarks, remediation safety and C2 beacon detection [1] found that agents are now tested on live, fault-injected systems, but success on realistic benchmarks stays low [4, 5] and evaluations skip five things:</a:t>
            </a:r>
            <a:endParaRPr b="0" i="0" sz="1500" u="none" cap="none" strike="noStrike">
              <a:solidFill>
                <a:schemeClr val="dk1"/>
              </a:solidFill>
              <a:latin typeface="Calibri"/>
              <a:ea typeface="Calibri"/>
              <a:cs typeface="Calibri"/>
              <a:sym typeface="Calibri"/>
            </a:endParaRPr>
          </a:p>
        </p:txBody>
      </p:sp>
      <p:sp>
        <p:nvSpPr>
          <p:cNvPr id="116" name="Google Shape;116;p4"/>
          <p:cNvSpPr/>
          <p:nvPr/>
        </p:nvSpPr>
        <p:spPr>
          <a:xfrm>
            <a:off x="548640" y="2148840"/>
            <a:ext cx="2057400" cy="3520440"/>
          </a:xfrm>
          <a:prstGeom prst="roundRect">
            <a:avLst>
              <a:gd fmla="val 53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txBox="1"/>
          <p:nvPr/>
        </p:nvSpPr>
        <p:spPr>
          <a:xfrm>
            <a:off x="731520" y="2331720"/>
            <a:ext cx="1371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G1</a:t>
            </a:r>
            <a:endParaRPr b="0" i="0" sz="2800" u="none" cap="none" strike="noStrike">
              <a:solidFill>
                <a:schemeClr val="dk1"/>
              </a:solidFill>
              <a:latin typeface="Calibri"/>
              <a:ea typeface="Calibri"/>
              <a:cs typeface="Calibri"/>
              <a:sym typeface="Calibri"/>
            </a:endParaRPr>
          </a:p>
        </p:txBody>
      </p:sp>
      <p:sp>
        <p:nvSpPr>
          <p:cNvPr id="118" name="Google Shape;118;p4"/>
          <p:cNvSpPr txBox="1"/>
          <p:nvPr/>
        </p:nvSpPr>
        <p:spPr>
          <a:xfrm>
            <a:off x="731520" y="2880360"/>
            <a:ext cx="16916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Concurrent faults</a:t>
            </a:r>
            <a:endParaRPr b="0" i="0" sz="1600" u="none" cap="none" strike="noStrike">
              <a:solidFill>
                <a:schemeClr val="dk1"/>
              </a:solidFill>
              <a:latin typeface="Calibri"/>
              <a:ea typeface="Calibri"/>
              <a:cs typeface="Calibri"/>
              <a:sym typeface="Calibri"/>
            </a:endParaRPr>
          </a:p>
        </p:txBody>
      </p:sp>
      <p:sp>
        <p:nvSpPr>
          <p:cNvPr id="119" name="Google Shape;119;p4"/>
          <p:cNvSpPr txBox="1"/>
          <p:nvPr/>
        </p:nvSpPr>
        <p:spPr>
          <a:xfrm>
            <a:off x="731520" y="3474720"/>
            <a:ext cx="1691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5F55"/>
              </a:buClr>
              <a:buSzPts val="1300"/>
              <a:buFont typeface="Calibri"/>
              <a:buNone/>
            </a:pPr>
            <a:r>
              <a:rPr b="0" i="1" lang="en-US" sz="1300" u="none" cap="none" strike="noStrike">
                <a:solidFill>
                  <a:srgbClr val="4D5F55"/>
                </a:solidFill>
                <a:latin typeface="Calibri"/>
                <a:ea typeface="Calibri"/>
                <a:cs typeface="Calibri"/>
                <a:sym typeface="Calibri"/>
              </a:rPr>
              <a:t>Most tests inject one fault.</a:t>
            </a:r>
            <a:endParaRPr b="0" i="0" sz="1300" u="none" cap="none" strike="noStrike">
              <a:solidFill>
                <a:schemeClr val="dk1"/>
              </a:solidFill>
              <a:latin typeface="Calibri"/>
              <a:ea typeface="Calibri"/>
              <a:cs typeface="Calibri"/>
              <a:sym typeface="Calibri"/>
            </a:endParaRPr>
          </a:p>
        </p:txBody>
      </p:sp>
      <p:sp>
        <p:nvSpPr>
          <p:cNvPr id="120" name="Google Shape;120;p4"/>
          <p:cNvSpPr/>
          <p:nvPr/>
        </p:nvSpPr>
        <p:spPr>
          <a:xfrm>
            <a:off x="658368" y="4297680"/>
            <a:ext cx="1837944" cy="1234440"/>
          </a:xfrm>
          <a:prstGeom prst="roundRect">
            <a:avLst>
              <a:gd fmla="val 592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txBox="1"/>
          <p:nvPr/>
        </p:nvSpPr>
        <p:spPr>
          <a:xfrm>
            <a:off x="777240" y="4389120"/>
            <a:ext cx="1600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1–3 faults per incident; recovery stays 100% at every level</a:t>
            </a:r>
            <a:endParaRPr b="0" i="0" sz="1300" u="none" cap="none" strike="noStrike">
              <a:solidFill>
                <a:schemeClr val="dk1"/>
              </a:solidFill>
              <a:latin typeface="Calibri"/>
              <a:ea typeface="Calibri"/>
              <a:cs typeface="Calibri"/>
              <a:sym typeface="Calibri"/>
            </a:endParaRPr>
          </a:p>
        </p:txBody>
      </p:sp>
      <p:sp>
        <p:nvSpPr>
          <p:cNvPr id="122" name="Google Shape;122;p4"/>
          <p:cNvSpPr/>
          <p:nvPr/>
        </p:nvSpPr>
        <p:spPr>
          <a:xfrm>
            <a:off x="2816352" y="2148840"/>
            <a:ext cx="2057400" cy="3520440"/>
          </a:xfrm>
          <a:prstGeom prst="roundRect">
            <a:avLst>
              <a:gd fmla="val 53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txBox="1"/>
          <p:nvPr/>
        </p:nvSpPr>
        <p:spPr>
          <a:xfrm>
            <a:off x="2999232" y="2331720"/>
            <a:ext cx="1371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G2</a:t>
            </a:r>
            <a:endParaRPr b="0" i="0" sz="2800" u="none" cap="none" strike="noStrike">
              <a:solidFill>
                <a:schemeClr val="dk1"/>
              </a:solidFill>
              <a:latin typeface="Calibri"/>
              <a:ea typeface="Calibri"/>
              <a:cs typeface="Calibri"/>
              <a:sym typeface="Calibri"/>
            </a:endParaRPr>
          </a:p>
        </p:txBody>
      </p:sp>
      <p:sp>
        <p:nvSpPr>
          <p:cNvPr id="124" name="Google Shape;124;p4"/>
          <p:cNvSpPr txBox="1"/>
          <p:nvPr/>
        </p:nvSpPr>
        <p:spPr>
          <a:xfrm>
            <a:off x="2999232" y="2880360"/>
            <a:ext cx="16916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Security-blind ops</a:t>
            </a:r>
            <a:endParaRPr b="0" i="0" sz="1600" u="none" cap="none" strike="noStrike">
              <a:solidFill>
                <a:schemeClr val="dk1"/>
              </a:solidFill>
              <a:latin typeface="Calibri"/>
              <a:ea typeface="Calibri"/>
              <a:cs typeface="Calibri"/>
              <a:sym typeface="Calibri"/>
            </a:endParaRPr>
          </a:p>
        </p:txBody>
      </p:sp>
      <p:sp>
        <p:nvSpPr>
          <p:cNvPr id="125" name="Google Shape;125;p4"/>
          <p:cNvSpPr txBox="1"/>
          <p:nvPr/>
        </p:nvSpPr>
        <p:spPr>
          <a:xfrm>
            <a:off x="2999232" y="3474720"/>
            <a:ext cx="1691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5F55"/>
              </a:buClr>
              <a:buSzPts val="1300"/>
              <a:buFont typeface="Calibri"/>
              <a:buNone/>
            </a:pPr>
            <a:r>
              <a:rPr b="0" i="1" lang="en-US" sz="1300" u="none" cap="none" strike="noStrike">
                <a:solidFill>
                  <a:srgbClr val="4D5F55"/>
                </a:solidFill>
                <a:latin typeface="Calibri"/>
                <a:ea typeface="Calibri"/>
                <a:cs typeface="Calibri"/>
                <a:sym typeface="Calibri"/>
              </a:rPr>
              <a:t>No AIOps benchmark checks for a hidden compromise.</a:t>
            </a:r>
            <a:endParaRPr b="0" i="0" sz="1300" u="none" cap="none" strike="noStrike">
              <a:solidFill>
                <a:schemeClr val="dk1"/>
              </a:solidFill>
              <a:latin typeface="Calibri"/>
              <a:ea typeface="Calibri"/>
              <a:cs typeface="Calibri"/>
              <a:sym typeface="Calibri"/>
            </a:endParaRPr>
          </a:p>
        </p:txBody>
      </p:sp>
      <p:sp>
        <p:nvSpPr>
          <p:cNvPr id="126" name="Google Shape;126;p4"/>
          <p:cNvSpPr/>
          <p:nvPr/>
        </p:nvSpPr>
        <p:spPr>
          <a:xfrm>
            <a:off x="2926080" y="4297680"/>
            <a:ext cx="1837944" cy="1234440"/>
          </a:xfrm>
          <a:prstGeom prst="roundRect">
            <a:avLst>
              <a:gd fmla="val 592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txBox="1"/>
          <p:nvPr/>
        </p:nvSpPr>
        <p:spPr>
          <a:xfrm>
            <a:off x="3044952" y="4389120"/>
            <a:ext cx="1600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Beacon detector + contain-before-restart; 0 harmful actions</a:t>
            </a:r>
            <a:endParaRPr b="0" i="0" sz="1300" u="none" cap="none" strike="noStrike">
              <a:solidFill>
                <a:schemeClr val="dk1"/>
              </a:solidFill>
              <a:latin typeface="Calibri"/>
              <a:ea typeface="Calibri"/>
              <a:cs typeface="Calibri"/>
              <a:sym typeface="Calibri"/>
            </a:endParaRPr>
          </a:p>
        </p:txBody>
      </p:sp>
      <p:sp>
        <p:nvSpPr>
          <p:cNvPr id="128" name="Google Shape;128;p4"/>
          <p:cNvSpPr/>
          <p:nvPr/>
        </p:nvSpPr>
        <p:spPr>
          <a:xfrm>
            <a:off x="5084064" y="2148840"/>
            <a:ext cx="2057400" cy="3520440"/>
          </a:xfrm>
          <a:prstGeom prst="roundRect">
            <a:avLst>
              <a:gd fmla="val 53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txBox="1"/>
          <p:nvPr/>
        </p:nvSpPr>
        <p:spPr>
          <a:xfrm>
            <a:off x="5266944" y="2331720"/>
            <a:ext cx="1371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G3</a:t>
            </a:r>
            <a:endParaRPr b="0" i="0" sz="2800" u="none" cap="none" strike="noStrike">
              <a:solidFill>
                <a:schemeClr val="dk1"/>
              </a:solidFill>
              <a:latin typeface="Calibri"/>
              <a:ea typeface="Calibri"/>
              <a:cs typeface="Calibri"/>
              <a:sym typeface="Calibri"/>
            </a:endParaRPr>
          </a:p>
        </p:txBody>
      </p:sp>
      <p:sp>
        <p:nvSpPr>
          <p:cNvPr id="130" name="Google Shape;130;p4"/>
          <p:cNvSpPr txBox="1"/>
          <p:nvPr/>
        </p:nvSpPr>
        <p:spPr>
          <a:xfrm>
            <a:off x="5266944" y="2880360"/>
            <a:ext cx="16916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Unverified recovery</a:t>
            </a:r>
            <a:endParaRPr b="0" i="0" sz="1600" u="none" cap="none" strike="noStrike">
              <a:solidFill>
                <a:schemeClr val="dk1"/>
              </a:solidFill>
              <a:latin typeface="Calibri"/>
              <a:ea typeface="Calibri"/>
              <a:cs typeface="Calibri"/>
              <a:sym typeface="Calibri"/>
            </a:endParaRPr>
          </a:p>
        </p:txBody>
      </p:sp>
      <p:sp>
        <p:nvSpPr>
          <p:cNvPr id="131" name="Google Shape;131;p4"/>
          <p:cNvSpPr txBox="1"/>
          <p:nvPr/>
        </p:nvSpPr>
        <p:spPr>
          <a:xfrm>
            <a:off x="5266944" y="3474720"/>
            <a:ext cx="1691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5F55"/>
              </a:buClr>
              <a:buSzPts val="1300"/>
              <a:buFont typeface="Calibri"/>
              <a:buNone/>
            </a:pPr>
            <a:r>
              <a:rPr b="0" i="1" lang="en-US" sz="1300" u="none" cap="none" strike="noStrike">
                <a:solidFill>
                  <a:srgbClr val="4D5F55"/>
                </a:solidFill>
                <a:latin typeface="Calibri"/>
                <a:ea typeface="Calibri"/>
                <a:cs typeface="Calibri"/>
                <a:sym typeface="Calibri"/>
              </a:rPr>
              <a:t>False “recovered” is rarely measured.</a:t>
            </a:r>
            <a:endParaRPr b="0" i="0" sz="1300" u="none" cap="none" strike="noStrike">
              <a:solidFill>
                <a:schemeClr val="dk1"/>
              </a:solidFill>
              <a:latin typeface="Calibri"/>
              <a:ea typeface="Calibri"/>
              <a:cs typeface="Calibri"/>
              <a:sym typeface="Calibri"/>
            </a:endParaRPr>
          </a:p>
        </p:txBody>
      </p:sp>
      <p:sp>
        <p:nvSpPr>
          <p:cNvPr id="132" name="Google Shape;132;p4"/>
          <p:cNvSpPr/>
          <p:nvPr/>
        </p:nvSpPr>
        <p:spPr>
          <a:xfrm>
            <a:off x="5193792" y="4297680"/>
            <a:ext cx="1837944" cy="1234440"/>
          </a:xfrm>
          <a:prstGeom prst="roundRect">
            <a:avLst>
              <a:gd fmla="val 592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txBox="1"/>
          <p:nvPr/>
        </p:nvSpPr>
        <p:spPr>
          <a:xfrm>
            <a:off x="5312664" y="4389120"/>
            <a:ext cx="1600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False claims as a headline metric: 0% vs 70%</a:t>
            </a:r>
            <a:endParaRPr b="0" i="0" sz="1300" u="none" cap="none" strike="noStrike">
              <a:solidFill>
                <a:schemeClr val="dk1"/>
              </a:solidFill>
              <a:latin typeface="Calibri"/>
              <a:ea typeface="Calibri"/>
              <a:cs typeface="Calibri"/>
              <a:sym typeface="Calibri"/>
            </a:endParaRPr>
          </a:p>
        </p:txBody>
      </p:sp>
      <p:sp>
        <p:nvSpPr>
          <p:cNvPr id="134" name="Google Shape;134;p4"/>
          <p:cNvSpPr/>
          <p:nvPr/>
        </p:nvSpPr>
        <p:spPr>
          <a:xfrm>
            <a:off x="7351776" y="2148840"/>
            <a:ext cx="2057400" cy="3520440"/>
          </a:xfrm>
          <a:prstGeom prst="roundRect">
            <a:avLst>
              <a:gd fmla="val 53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txBox="1"/>
          <p:nvPr/>
        </p:nvSpPr>
        <p:spPr>
          <a:xfrm>
            <a:off x="7534656" y="2331720"/>
            <a:ext cx="1371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G4</a:t>
            </a:r>
            <a:endParaRPr b="0" i="0" sz="2800" u="none" cap="none" strike="noStrike">
              <a:solidFill>
                <a:schemeClr val="dk1"/>
              </a:solidFill>
              <a:latin typeface="Calibri"/>
              <a:ea typeface="Calibri"/>
              <a:cs typeface="Calibri"/>
              <a:sym typeface="Calibri"/>
            </a:endParaRPr>
          </a:p>
        </p:txBody>
      </p:sp>
      <p:sp>
        <p:nvSpPr>
          <p:cNvPr id="136" name="Google Shape;136;p4"/>
          <p:cNvSpPr txBox="1"/>
          <p:nvPr/>
        </p:nvSpPr>
        <p:spPr>
          <a:xfrm>
            <a:off x="7534656" y="2880360"/>
            <a:ext cx="16916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Agent cost</a:t>
            </a:r>
            <a:endParaRPr b="0" i="0" sz="1600" u="none" cap="none" strike="noStrike">
              <a:solidFill>
                <a:schemeClr val="dk1"/>
              </a:solidFill>
              <a:latin typeface="Calibri"/>
              <a:ea typeface="Calibri"/>
              <a:cs typeface="Calibri"/>
              <a:sym typeface="Calibri"/>
            </a:endParaRPr>
          </a:p>
        </p:txBody>
      </p:sp>
      <p:sp>
        <p:nvSpPr>
          <p:cNvPr id="137" name="Google Shape;137;p4"/>
          <p:cNvSpPr txBox="1"/>
          <p:nvPr/>
        </p:nvSpPr>
        <p:spPr>
          <a:xfrm>
            <a:off x="7534656" y="3474720"/>
            <a:ext cx="1691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5F55"/>
              </a:buClr>
              <a:buSzPts val="1300"/>
              <a:buFont typeface="Calibri"/>
              <a:buNone/>
            </a:pPr>
            <a:r>
              <a:rPr b="0" i="1" lang="en-US" sz="1300" u="none" cap="none" strike="noStrike">
                <a:solidFill>
                  <a:srgbClr val="4D5F55"/>
                </a:solidFill>
                <a:latin typeface="Calibri"/>
                <a:ea typeface="Calibri"/>
                <a:cs typeface="Calibri"/>
                <a:sym typeface="Calibri"/>
              </a:rPr>
              <a:t>Tokens and compute rarely reported.</a:t>
            </a:r>
            <a:endParaRPr b="0" i="0" sz="1300" u="none" cap="none" strike="noStrike">
              <a:solidFill>
                <a:schemeClr val="dk1"/>
              </a:solidFill>
              <a:latin typeface="Calibri"/>
              <a:ea typeface="Calibri"/>
              <a:cs typeface="Calibri"/>
              <a:sym typeface="Calibri"/>
            </a:endParaRPr>
          </a:p>
        </p:txBody>
      </p:sp>
      <p:sp>
        <p:nvSpPr>
          <p:cNvPr id="138" name="Google Shape;138;p4"/>
          <p:cNvSpPr/>
          <p:nvPr/>
        </p:nvSpPr>
        <p:spPr>
          <a:xfrm>
            <a:off x="7461504" y="4297680"/>
            <a:ext cx="1837944" cy="1234440"/>
          </a:xfrm>
          <a:prstGeom prst="roundRect">
            <a:avLst>
              <a:gd fmla="val 592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txBox="1"/>
          <p:nvPr/>
        </p:nvSpPr>
        <p:spPr>
          <a:xfrm>
            <a:off x="7580376" y="4389120"/>
            <a:ext cx="1600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6,103 tokens per incident on a local 7B model</a:t>
            </a:r>
            <a:endParaRPr b="0" i="0" sz="1300" u="none" cap="none" strike="noStrike">
              <a:solidFill>
                <a:schemeClr val="dk1"/>
              </a:solidFill>
              <a:latin typeface="Calibri"/>
              <a:ea typeface="Calibri"/>
              <a:cs typeface="Calibri"/>
              <a:sym typeface="Calibri"/>
            </a:endParaRPr>
          </a:p>
        </p:txBody>
      </p:sp>
      <p:sp>
        <p:nvSpPr>
          <p:cNvPr id="140" name="Google Shape;140;p4"/>
          <p:cNvSpPr/>
          <p:nvPr/>
        </p:nvSpPr>
        <p:spPr>
          <a:xfrm>
            <a:off x="9619488" y="2148840"/>
            <a:ext cx="2057400" cy="3520440"/>
          </a:xfrm>
          <a:prstGeom prst="roundRect">
            <a:avLst>
              <a:gd fmla="val 53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txBox="1"/>
          <p:nvPr/>
        </p:nvSpPr>
        <p:spPr>
          <a:xfrm>
            <a:off x="9802368" y="2331720"/>
            <a:ext cx="1371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G5</a:t>
            </a:r>
            <a:endParaRPr b="0" i="0" sz="2800" u="none" cap="none" strike="noStrike">
              <a:solidFill>
                <a:schemeClr val="dk1"/>
              </a:solidFill>
              <a:latin typeface="Calibri"/>
              <a:ea typeface="Calibri"/>
              <a:cs typeface="Calibri"/>
              <a:sym typeface="Calibri"/>
            </a:endParaRPr>
          </a:p>
        </p:txBody>
      </p:sp>
      <p:sp>
        <p:nvSpPr>
          <p:cNvPr id="142" name="Google Shape;142;p4"/>
          <p:cNvSpPr txBox="1"/>
          <p:nvPr/>
        </p:nvSpPr>
        <p:spPr>
          <a:xfrm>
            <a:off x="9802368" y="2880360"/>
            <a:ext cx="16916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Robustness</a:t>
            </a:r>
            <a:endParaRPr b="0" i="0" sz="1600" u="none" cap="none" strike="noStrike">
              <a:solidFill>
                <a:schemeClr val="dk1"/>
              </a:solidFill>
              <a:latin typeface="Calibri"/>
              <a:ea typeface="Calibri"/>
              <a:cs typeface="Calibri"/>
              <a:sym typeface="Calibri"/>
            </a:endParaRPr>
          </a:p>
        </p:txBody>
      </p:sp>
      <p:sp>
        <p:nvSpPr>
          <p:cNvPr id="143" name="Google Shape;143;p4"/>
          <p:cNvSpPr txBox="1"/>
          <p:nvPr/>
        </p:nvSpPr>
        <p:spPr>
          <a:xfrm>
            <a:off x="9802368" y="3474720"/>
            <a:ext cx="16916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D5F55"/>
              </a:buClr>
              <a:buSzPts val="1300"/>
              <a:buFont typeface="Calibri"/>
              <a:buNone/>
            </a:pPr>
            <a:r>
              <a:rPr b="0" i="1" lang="en-US" sz="1300" u="none" cap="none" strike="noStrike">
                <a:solidFill>
                  <a:srgbClr val="4D5F55"/>
                </a:solidFill>
                <a:latin typeface="Calibri"/>
                <a:ea typeface="Calibri"/>
                <a:cs typeface="Calibri"/>
                <a:sym typeface="Calibri"/>
              </a:rPr>
              <a:t>Little testing on degraded telemetry.</a:t>
            </a:r>
            <a:endParaRPr b="0" i="0" sz="1300" u="none" cap="none" strike="noStrike">
              <a:solidFill>
                <a:schemeClr val="dk1"/>
              </a:solidFill>
              <a:latin typeface="Calibri"/>
              <a:ea typeface="Calibri"/>
              <a:cs typeface="Calibri"/>
              <a:sym typeface="Calibri"/>
            </a:endParaRPr>
          </a:p>
        </p:txBody>
      </p:sp>
      <p:sp>
        <p:nvSpPr>
          <p:cNvPr id="144" name="Google Shape;144;p4"/>
          <p:cNvSpPr/>
          <p:nvPr/>
        </p:nvSpPr>
        <p:spPr>
          <a:xfrm>
            <a:off x="9729216" y="4297680"/>
            <a:ext cx="1837944" cy="1234440"/>
          </a:xfrm>
          <a:prstGeom prst="roundRect">
            <a:avLst>
              <a:gd fmla="val 592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txBox="1"/>
          <p:nvPr/>
        </p:nvSpPr>
        <p:spPr>
          <a:xfrm>
            <a:off x="9848088" y="4389120"/>
            <a:ext cx="1600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95–100% recovery under four perturbations</a:t>
            </a:r>
            <a:endParaRPr b="0" i="0" sz="1300" u="none" cap="none" strike="noStrike">
              <a:solidFill>
                <a:schemeClr val="dk1"/>
              </a:solidFill>
              <a:latin typeface="Calibri"/>
              <a:ea typeface="Calibri"/>
              <a:cs typeface="Calibri"/>
              <a:sym typeface="Calibri"/>
            </a:endParaRPr>
          </a:p>
        </p:txBody>
      </p:sp>
      <p:sp>
        <p:nvSpPr>
          <p:cNvPr id="146" name="Google Shape;146;p4"/>
          <p:cNvSpPr txBox="1"/>
          <p:nvPr/>
        </p:nvSpPr>
        <p:spPr>
          <a:xfrm>
            <a:off x="548640" y="5806440"/>
            <a:ext cx="11064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Grey: the gap in the literature.  Green: how Sentinel-RX answers and measures it.  The beacon detector builds on my master’s thesis [2].</a:t>
            </a:r>
            <a:endParaRPr b="0" i="0" sz="1200" u="none" cap="none" strike="noStrike">
              <a:solidFill>
                <a:schemeClr val="dk1"/>
              </a:solidFill>
              <a:latin typeface="Calibri"/>
              <a:ea typeface="Calibri"/>
              <a:cs typeface="Calibri"/>
              <a:sym typeface="Calibri"/>
            </a:endParaRPr>
          </a:p>
        </p:txBody>
      </p:sp>
      <p:sp>
        <p:nvSpPr>
          <p:cNvPr id="147" name="Google Shape;147;p4"/>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latin typeface="Cambria"/>
                <a:ea typeface="Cambria"/>
                <a:cs typeface="Cambria"/>
                <a:sym typeface="Cambria"/>
              </a:rPr>
              <a:t>The solution: a verified recovery loop</a:t>
            </a:r>
            <a:endParaRPr sz="3600"/>
          </a:p>
        </p:txBody>
      </p:sp>
      <p:sp>
        <p:nvSpPr>
          <p:cNvPr id="154" name="Google Shape;154;p5"/>
          <p:cNvSpPr/>
          <p:nvPr/>
        </p:nvSpPr>
        <p:spPr>
          <a:xfrm>
            <a:off x="548640" y="1508760"/>
            <a:ext cx="1627632" cy="2331720"/>
          </a:xfrm>
          <a:prstGeom prst="roundRect">
            <a:avLst>
              <a:gd fmla="val 6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1088136" y="169164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Observe icon" id="156" name="Google Shape;156;p5"/>
          <p:cNvPicPr preferRelativeResize="0"/>
          <p:nvPr/>
        </p:nvPicPr>
        <p:blipFill rotWithShape="1">
          <a:blip r:embed="rId3">
            <a:alphaModFix/>
          </a:blip>
          <a:srcRect b="0" l="0" r="0" t="0"/>
          <a:stretch/>
        </p:blipFill>
        <p:spPr>
          <a:xfrm>
            <a:off x="1236269" y="1839773"/>
            <a:ext cx="252374" cy="252374"/>
          </a:xfrm>
          <a:prstGeom prst="rect">
            <a:avLst/>
          </a:prstGeom>
          <a:noFill/>
          <a:ln>
            <a:noFill/>
          </a:ln>
        </p:spPr>
      </p:pic>
      <p:sp>
        <p:nvSpPr>
          <p:cNvPr id="157" name="Google Shape;157;p5"/>
          <p:cNvSpPr txBox="1"/>
          <p:nvPr/>
        </p:nvSpPr>
        <p:spPr>
          <a:xfrm>
            <a:off x="640080" y="2350008"/>
            <a:ext cx="1444752"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Observe</a:t>
            </a:r>
            <a:endParaRPr b="0" i="0" sz="1600" u="none" cap="none" strike="noStrike">
              <a:solidFill>
                <a:schemeClr val="dk1"/>
              </a:solidFill>
              <a:latin typeface="Calibri"/>
              <a:ea typeface="Calibri"/>
              <a:cs typeface="Calibri"/>
              <a:sym typeface="Calibri"/>
            </a:endParaRPr>
          </a:p>
        </p:txBody>
      </p:sp>
      <p:sp>
        <p:nvSpPr>
          <p:cNvPr id="158" name="Google Shape;158;p5"/>
          <p:cNvSpPr txBox="1"/>
          <p:nvPr/>
        </p:nvSpPr>
        <p:spPr>
          <a:xfrm>
            <a:off x="685800" y="2743200"/>
            <a:ext cx="1353312"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4 detectors: metrics, logs, dependencies, network beacons</a:t>
            </a:r>
            <a:endParaRPr b="0" i="0" sz="1200" u="none" cap="none" strike="noStrike">
              <a:solidFill>
                <a:schemeClr val="dk1"/>
              </a:solidFill>
              <a:latin typeface="Calibri"/>
              <a:ea typeface="Calibri"/>
              <a:cs typeface="Calibri"/>
              <a:sym typeface="Calibri"/>
            </a:endParaRPr>
          </a:p>
        </p:txBody>
      </p:sp>
      <p:cxnSp>
        <p:nvCxnSpPr>
          <p:cNvPr id="159" name="Google Shape;159;p5"/>
          <p:cNvCxnSpPr/>
          <p:nvPr/>
        </p:nvCxnSpPr>
        <p:spPr>
          <a:xfrm>
            <a:off x="2212848" y="2670048"/>
            <a:ext cx="186538" cy="0"/>
          </a:xfrm>
          <a:prstGeom prst="straightConnector1">
            <a:avLst/>
          </a:prstGeom>
          <a:noFill/>
          <a:ln cap="flat" cmpd="sng" w="25400">
            <a:solidFill>
              <a:schemeClr val="accent1"/>
            </a:solidFill>
            <a:prstDash val="solid"/>
            <a:round/>
            <a:headEnd len="sm" w="sm" type="none"/>
            <a:tailEnd len="med" w="med" type="triangle"/>
          </a:ln>
        </p:spPr>
      </p:cxnSp>
      <p:sp>
        <p:nvSpPr>
          <p:cNvPr id="160" name="Google Shape;160;p5"/>
          <p:cNvSpPr/>
          <p:nvPr/>
        </p:nvSpPr>
        <p:spPr>
          <a:xfrm>
            <a:off x="2435962" y="1508760"/>
            <a:ext cx="1627632" cy="2331720"/>
          </a:xfrm>
          <a:prstGeom prst="roundRect">
            <a:avLst>
              <a:gd fmla="val 6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2975458" y="169164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iagnose icon" id="162" name="Google Shape;162;p5"/>
          <p:cNvPicPr preferRelativeResize="0"/>
          <p:nvPr/>
        </p:nvPicPr>
        <p:blipFill rotWithShape="1">
          <a:blip r:embed="rId4">
            <a:alphaModFix/>
          </a:blip>
          <a:srcRect b="0" l="0" r="0" t="0"/>
          <a:stretch/>
        </p:blipFill>
        <p:spPr>
          <a:xfrm>
            <a:off x="3123590" y="1839773"/>
            <a:ext cx="252374" cy="252374"/>
          </a:xfrm>
          <a:prstGeom prst="rect">
            <a:avLst/>
          </a:prstGeom>
          <a:noFill/>
          <a:ln>
            <a:noFill/>
          </a:ln>
        </p:spPr>
      </p:pic>
      <p:sp>
        <p:nvSpPr>
          <p:cNvPr id="163" name="Google Shape;163;p5"/>
          <p:cNvSpPr txBox="1"/>
          <p:nvPr/>
        </p:nvSpPr>
        <p:spPr>
          <a:xfrm>
            <a:off x="2527402" y="2350008"/>
            <a:ext cx="1444752"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Diagnose</a:t>
            </a:r>
            <a:endParaRPr b="0" i="0" sz="1600" u="none" cap="none" strike="noStrike">
              <a:solidFill>
                <a:schemeClr val="dk1"/>
              </a:solidFill>
              <a:latin typeface="Calibri"/>
              <a:ea typeface="Calibri"/>
              <a:cs typeface="Calibri"/>
              <a:sym typeface="Calibri"/>
            </a:endParaRPr>
          </a:p>
        </p:txBody>
      </p:sp>
      <p:sp>
        <p:nvSpPr>
          <p:cNvPr id="164" name="Google Shape;164;p5"/>
          <p:cNvSpPr txBox="1"/>
          <p:nvPr/>
        </p:nvSpPr>
        <p:spPr>
          <a:xfrm>
            <a:off x="2573122" y="2743200"/>
            <a:ext cx="1353312"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Local LLM ranks root causes and runs targeted checks</a:t>
            </a:r>
            <a:endParaRPr b="0" i="0" sz="1200" u="none" cap="none" strike="noStrike">
              <a:solidFill>
                <a:schemeClr val="dk1"/>
              </a:solidFill>
              <a:latin typeface="Calibri"/>
              <a:ea typeface="Calibri"/>
              <a:cs typeface="Calibri"/>
              <a:sym typeface="Calibri"/>
            </a:endParaRPr>
          </a:p>
        </p:txBody>
      </p:sp>
      <p:cxnSp>
        <p:nvCxnSpPr>
          <p:cNvPr id="165" name="Google Shape;165;p5"/>
          <p:cNvCxnSpPr/>
          <p:nvPr/>
        </p:nvCxnSpPr>
        <p:spPr>
          <a:xfrm>
            <a:off x="4100170" y="2670048"/>
            <a:ext cx="186538" cy="0"/>
          </a:xfrm>
          <a:prstGeom prst="straightConnector1">
            <a:avLst/>
          </a:prstGeom>
          <a:noFill/>
          <a:ln cap="flat" cmpd="sng" w="25400">
            <a:solidFill>
              <a:schemeClr val="accent1"/>
            </a:solidFill>
            <a:prstDash val="solid"/>
            <a:round/>
            <a:headEnd len="sm" w="sm" type="none"/>
            <a:tailEnd len="med" w="med" type="triangle"/>
          </a:ln>
        </p:spPr>
      </p:cxnSp>
      <p:sp>
        <p:nvSpPr>
          <p:cNvPr id="166" name="Google Shape;166;p5"/>
          <p:cNvSpPr/>
          <p:nvPr/>
        </p:nvSpPr>
        <p:spPr>
          <a:xfrm>
            <a:off x="4323283" y="1508760"/>
            <a:ext cx="1627632" cy="2331720"/>
          </a:xfrm>
          <a:prstGeom prst="roundRect">
            <a:avLst>
              <a:gd fmla="val 6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4862779" y="169164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lan icon" id="168" name="Google Shape;168;p5"/>
          <p:cNvPicPr preferRelativeResize="0"/>
          <p:nvPr/>
        </p:nvPicPr>
        <p:blipFill rotWithShape="1">
          <a:blip r:embed="rId5">
            <a:alphaModFix/>
          </a:blip>
          <a:srcRect b="0" l="0" r="0" t="0"/>
          <a:stretch/>
        </p:blipFill>
        <p:spPr>
          <a:xfrm>
            <a:off x="5010912" y="1839773"/>
            <a:ext cx="252374" cy="252374"/>
          </a:xfrm>
          <a:prstGeom prst="rect">
            <a:avLst/>
          </a:prstGeom>
          <a:noFill/>
          <a:ln>
            <a:noFill/>
          </a:ln>
        </p:spPr>
      </p:pic>
      <p:sp>
        <p:nvSpPr>
          <p:cNvPr id="169" name="Google Shape;169;p5"/>
          <p:cNvSpPr txBox="1"/>
          <p:nvPr/>
        </p:nvSpPr>
        <p:spPr>
          <a:xfrm>
            <a:off x="4414723" y="2350008"/>
            <a:ext cx="1444752"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Plan</a:t>
            </a:r>
            <a:endParaRPr b="0" i="0" sz="1600" u="none" cap="none" strike="noStrike">
              <a:solidFill>
                <a:schemeClr val="dk1"/>
              </a:solidFill>
              <a:latin typeface="Calibri"/>
              <a:ea typeface="Calibri"/>
              <a:cs typeface="Calibri"/>
              <a:sym typeface="Calibri"/>
            </a:endParaRPr>
          </a:p>
        </p:txBody>
      </p:sp>
      <p:sp>
        <p:nvSpPr>
          <p:cNvPr id="170" name="Google Shape;170;p5"/>
          <p:cNvSpPr txBox="1"/>
          <p:nvPr/>
        </p:nvSpPr>
        <p:spPr>
          <a:xfrm>
            <a:off x="4460443" y="2743200"/>
            <a:ext cx="1353312"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Ordered fix from an 8-action allowlist</a:t>
            </a:r>
            <a:endParaRPr b="0" i="0" sz="1200" u="none" cap="none" strike="noStrike">
              <a:solidFill>
                <a:schemeClr val="dk1"/>
              </a:solidFill>
              <a:latin typeface="Calibri"/>
              <a:ea typeface="Calibri"/>
              <a:cs typeface="Calibri"/>
              <a:sym typeface="Calibri"/>
            </a:endParaRPr>
          </a:p>
        </p:txBody>
      </p:sp>
      <p:cxnSp>
        <p:nvCxnSpPr>
          <p:cNvPr id="171" name="Google Shape;171;p5"/>
          <p:cNvCxnSpPr/>
          <p:nvPr/>
        </p:nvCxnSpPr>
        <p:spPr>
          <a:xfrm>
            <a:off x="5987491" y="2670048"/>
            <a:ext cx="186538" cy="0"/>
          </a:xfrm>
          <a:prstGeom prst="straightConnector1">
            <a:avLst/>
          </a:prstGeom>
          <a:noFill/>
          <a:ln cap="flat" cmpd="sng" w="25400">
            <a:solidFill>
              <a:schemeClr val="accent1"/>
            </a:solidFill>
            <a:prstDash val="solid"/>
            <a:round/>
            <a:headEnd len="sm" w="sm" type="none"/>
            <a:tailEnd len="med" w="med" type="triangle"/>
          </a:ln>
        </p:spPr>
      </p:cxnSp>
      <p:sp>
        <p:nvSpPr>
          <p:cNvPr id="172" name="Google Shape;172;p5"/>
          <p:cNvSpPr/>
          <p:nvPr/>
        </p:nvSpPr>
        <p:spPr>
          <a:xfrm>
            <a:off x="6210605" y="1508760"/>
            <a:ext cx="1627632" cy="2331720"/>
          </a:xfrm>
          <a:prstGeom prst="roundRect">
            <a:avLst>
              <a:gd fmla="val 6742"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6750101" y="169164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afety gate icon" id="174" name="Google Shape;174;p5"/>
          <p:cNvPicPr preferRelativeResize="0"/>
          <p:nvPr/>
        </p:nvPicPr>
        <p:blipFill rotWithShape="1">
          <a:blip r:embed="rId6">
            <a:alphaModFix/>
          </a:blip>
          <a:srcRect b="0" l="0" r="0" t="0"/>
          <a:stretch/>
        </p:blipFill>
        <p:spPr>
          <a:xfrm>
            <a:off x="6898234" y="1839773"/>
            <a:ext cx="252374" cy="252374"/>
          </a:xfrm>
          <a:prstGeom prst="rect">
            <a:avLst/>
          </a:prstGeom>
          <a:noFill/>
          <a:ln>
            <a:noFill/>
          </a:ln>
        </p:spPr>
      </p:pic>
      <p:sp>
        <p:nvSpPr>
          <p:cNvPr id="175" name="Google Shape;175;p5"/>
          <p:cNvSpPr txBox="1"/>
          <p:nvPr/>
        </p:nvSpPr>
        <p:spPr>
          <a:xfrm>
            <a:off x="6302045" y="2350008"/>
            <a:ext cx="1444752"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Safety gate</a:t>
            </a:r>
            <a:endParaRPr b="0" i="0" sz="1600" u="none" cap="none" strike="noStrike">
              <a:solidFill>
                <a:schemeClr val="dk1"/>
              </a:solidFill>
              <a:latin typeface="Calibri"/>
              <a:ea typeface="Calibri"/>
              <a:cs typeface="Calibri"/>
              <a:sym typeface="Calibri"/>
            </a:endParaRPr>
          </a:p>
        </p:txBody>
      </p:sp>
      <p:sp>
        <p:nvSpPr>
          <p:cNvPr id="176" name="Google Shape;176;p5"/>
          <p:cNvSpPr txBox="1"/>
          <p:nvPr/>
        </p:nvSpPr>
        <p:spPr>
          <a:xfrm>
            <a:off x="6347765" y="2743200"/>
            <a:ext cx="1353312"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2"/>
              </a:buClr>
              <a:buSzPts val="1200"/>
              <a:buFont typeface="Calibri"/>
              <a:buNone/>
            </a:pPr>
            <a:r>
              <a:rPr b="0" i="0" lang="en-US" sz="1200" u="none" cap="none" strike="noStrike">
                <a:solidFill>
                  <a:schemeClr val="lt2"/>
                </a:solidFill>
                <a:latin typeface="Calibri"/>
                <a:ea typeface="Calibri"/>
                <a:cs typeface="Calibri"/>
                <a:sym typeface="Calibri"/>
              </a:rPr>
              <a:t>Evidence-gated containment, contain before restart, rollback</a:t>
            </a:r>
            <a:endParaRPr b="0" i="0" sz="1200" u="none" cap="none" strike="noStrike">
              <a:solidFill>
                <a:schemeClr val="dk1"/>
              </a:solidFill>
              <a:latin typeface="Calibri"/>
              <a:ea typeface="Calibri"/>
              <a:cs typeface="Calibri"/>
              <a:sym typeface="Calibri"/>
            </a:endParaRPr>
          </a:p>
        </p:txBody>
      </p:sp>
      <p:cxnSp>
        <p:nvCxnSpPr>
          <p:cNvPr id="177" name="Google Shape;177;p5"/>
          <p:cNvCxnSpPr/>
          <p:nvPr/>
        </p:nvCxnSpPr>
        <p:spPr>
          <a:xfrm>
            <a:off x="7874813" y="2670048"/>
            <a:ext cx="186538" cy="0"/>
          </a:xfrm>
          <a:prstGeom prst="straightConnector1">
            <a:avLst/>
          </a:prstGeom>
          <a:noFill/>
          <a:ln cap="flat" cmpd="sng" w="25400">
            <a:solidFill>
              <a:schemeClr val="accent1"/>
            </a:solidFill>
            <a:prstDash val="solid"/>
            <a:round/>
            <a:headEnd len="sm" w="sm" type="none"/>
            <a:tailEnd len="med" w="med" type="triangle"/>
          </a:ln>
        </p:spPr>
      </p:cxnSp>
      <p:sp>
        <p:nvSpPr>
          <p:cNvPr id="178" name="Google Shape;178;p5"/>
          <p:cNvSpPr/>
          <p:nvPr/>
        </p:nvSpPr>
        <p:spPr>
          <a:xfrm>
            <a:off x="8097926" y="1508760"/>
            <a:ext cx="1627632" cy="2331720"/>
          </a:xfrm>
          <a:prstGeom prst="roundRect">
            <a:avLst>
              <a:gd fmla="val 6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8637422" y="169164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 icon" id="180" name="Google Shape;180;p5"/>
          <p:cNvPicPr preferRelativeResize="0"/>
          <p:nvPr/>
        </p:nvPicPr>
        <p:blipFill rotWithShape="1">
          <a:blip r:embed="rId7">
            <a:alphaModFix/>
          </a:blip>
          <a:srcRect b="0" l="0" r="0" t="0"/>
          <a:stretch/>
        </p:blipFill>
        <p:spPr>
          <a:xfrm>
            <a:off x="8785555" y="1839773"/>
            <a:ext cx="252374" cy="252374"/>
          </a:xfrm>
          <a:prstGeom prst="rect">
            <a:avLst/>
          </a:prstGeom>
          <a:noFill/>
          <a:ln>
            <a:noFill/>
          </a:ln>
        </p:spPr>
      </p:pic>
      <p:sp>
        <p:nvSpPr>
          <p:cNvPr id="181" name="Google Shape;181;p5"/>
          <p:cNvSpPr txBox="1"/>
          <p:nvPr/>
        </p:nvSpPr>
        <p:spPr>
          <a:xfrm>
            <a:off x="8189366" y="2350008"/>
            <a:ext cx="1444752"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Act</a:t>
            </a:r>
            <a:endParaRPr b="0" i="0" sz="1600" u="none" cap="none" strike="noStrike">
              <a:solidFill>
                <a:schemeClr val="dk1"/>
              </a:solidFill>
              <a:latin typeface="Calibri"/>
              <a:ea typeface="Calibri"/>
              <a:cs typeface="Calibri"/>
              <a:sym typeface="Calibri"/>
            </a:endParaRPr>
          </a:p>
        </p:txBody>
      </p:sp>
      <p:sp>
        <p:nvSpPr>
          <p:cNvPr id="182" name="Google Shape;182;p5"/>
          <p:cNvSpPr txBox="1"/>
          <p:nvPr/>
        </p:nvSpPr>
        <p:spPr>
          <a:xfrm>
            <a:off x="8235086" y="2743200"/>
            <a:ext cx="1353312"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On the simulator or on real processes</a:t>
            </a:r>
            <a:endParaRPr b="0" i="0" sz="1200" u="none" cap="none" strike="noStrike">
              <a:solidFill>
                <a:schemeClr val="dk1"/>
              </a:solidFill>
              <a:latin typeface="Calibri"/>
              <a:ea typeface="Calibri"/>
              <a:cs typeface="Calibri"/>
              <a:sym typeface="Calibri"/>
            </a:endParaRPr>
          </a:p>
        </p:txBody>
      </p:sp>
      <p:cxnSp>
        <p:nvCxnSpPr>
          <p:cNvPr id="183" name="Google Shape;183;p5"/>
          <p:cNvCxnSpPr/>
          <p:nvPr/>
        </p:nvCxnSpPr>
        <p:spPr>
          <a:xfrm>
            <a:off x="9762134" y="2670048"/>
            <a:ext cx="186538" cy="0"/>
          </a:xfrm>
          <a:prstGeom prst="straightConnector1">
            <a:avLst/>
          </a:prstGeom>
          <a:noFill/>
          <a:ln cap="flat" cmpd="sng" w="25400">
            <a:solidFill>
              <a:schemeClr val="accent1"/>
            </a:solidFill>
            <a:prstDash val="solid"/>
            <a:round/>
            <a:headEnd len="sm" w="sm" type="none"/>
            <a:tailEnd len="med" w="med" type="triangle"/>
          </a:ln>
        </p:spPr>
      </p:cxnSp>
      <p:sp>
        <p:nvSpPr>
          <p:cNvPr id="184" name="Google Shape;184;p5"/>
          <p:cNvSpPr/>
          <p:nvPr/>
        </p:nvSpPr>
        <p:spPr>
          <a:xfrm>
            <a:off x="9985248" y="1508760"/>
            <a:ext cx="1627632" cy="2331720"/>
          </a:xfrm>
          <a:prstGeom prst="roundRect">
            <a:avLst>
              <a:gd fmla="val 6742"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10524744" y="169164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erify icon" id="186" name="Google Shape;186;p5"/>
          <p:cNvPicPr preferRelativeResize="0"/>
          <p:nvPr/>
        </p:nvPicPr>
        <p:blipFill rotWithShape="1">
          <a:blip r:embed="rId8">
            <a:alphaModFix/>
          </a:blip>
          <a:srcRect b="0" l="0" r="0" t="0"/>
          <a:stretch/>
        </p:blipFill>
        <p:spPr>
          <a:xfrm>
            <a:off x="10672877" y="1839773"/>
            <a:ext cx="252374" cy="252374"/>
          </a:xfrm>
          <a:prstGeom prst="rect">
            <a:avLst/>
          </a:prstGeom>
          <a:noFill/>
          <a:ln>
            <a:noFill/>
          </a:ln>
        </p:spPr>
      </p:pic>
      <p:sp>
        <p:nvSpPr>
          <p:cNvPr id="187" name="Google Shape;187;p5"/>
          <p:cNvSpPr txBox="1"/>
          <p:nvPr/>
        </p:nvSpPr>
        <p:spPr>
          <a:xfrm>
            <a:off x="10076688" y="2350008"/>
            <a:ext cx="1444752"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Verify</a:t>
            </a:r>
            <a:endParaRPr b="0" i="0" sz="1600" u="none" cap="none" strike="noStrike">
              <a:solidFill>
                <a:schemeClr val="dk1"/>
              </a:solidFill>
              <a:latin typeface="Calibri"/>
              <a:ea typeface="Calibri"/>
              <a:cs typeface="Calibri"/>
              <a:sym typeface="Calibri"/>
            </a:endParaRPr>
          </a:p>
        </p:txBody>
      </p:sp>
      <p:sp>
        <p:nvSpPr>
          <p:cNvPr id="188" name="Google Shape;188;p5"/>
          <p:cNvSpPr txBox="1"/>
          <p:nvPr/>
        </p:nvSpPr>
        <p:spPr>
          <a:xfrm>
            <a:off x="10122408" y="2743200"/>
            <a:ext cx="1353312"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2"/>
              </a:buClr>
              <a:buSzPts val="1200"/>
              <a:buFont typeface="Calibri"/>
              <a:buNone/>
            </a:pPr>
            <a:r>
              <a:rPr b="0" i="0" lang="en-US" sz="1200" u="none" cap="none" strike="noStrike">
                <a:solidFill>
                  <a:schemeClr val="lt2"/>
                </a:solidFill>
                <a:latin typeface="Calibri"/>
                <a:ea typeface="Calibri"/>
                <a:cs typeface="Calibri"/>
                <a:sym typeface="Calibri"/>
              </a:rPr>
              <a:t>Telemetry compared with the healthy baseline</a:t>
            </a:r>
            <a:endParaRPr b="0" i="0" sz="1200" u="none" cap="none" strike="noStrike">
              <a:solidFill>
                <a:schemeClr val="dk1"/>
              </a:solidFill>
              <a:latin typeface="Calibri"/>
              <a:ea typeface="Calibri"/>
              <a:cs typeface="Calibri"/>
              <a:sym typeface="Calibri"/>
            </a:endParaRPr>
          </a:p>
        </p:txBody>
      </p:sp>
      <p:cxnSp>
        <p:nvCxnSpPr>
          <p:cNvPr id="189" name="Google Shape;189;p5"/>
          <p:cNvCxnSpPr/>
          <p:nvPr/>
        </p:nvCxnSpPr>
        <p:spPr>
          <a:xfrm>
            <a:off x="10799064" y="3840480"/>
            <a:ext cx="0" cy="411480"/>
          </a:xfrm>
          <a:prstGeom prst="straightConnector1">
            <a:avLst/>
          </a:prstGeom>
          <a:noFill/>
          <a:ln cap="flat" cmpd="sng" w="19050">
            <a:solidFill>
              <a:schemeClr val="accent4"/>
            </a:solidFill>
            <a:prstDash val="dash"/>
            <a:round/>
            <a:headEnd len="sm" w="sm" type="none"/>
            <a:tailEnd len="sm" w="sm" type="none"/>
          </a:ln>
        </p:spPr>
      </p:cxnSp>
      <p:cxnSp>
        <p:nvCxnSpPr>
          <p:cNvPr id="190" name="Google Shape;190;p5"/>
          <p:cNvCxnSpPr/>
          <p:nvPr/>
        </p:nvCxnSpPr>
        <p:spPr>
          <a:xfrm>
            <a:off x="1362456" y="4251960"/>
            <a:ext cx="9436608" cy="0"/>
          </a:xfrm>
          <a:prstGeom prst="straightConnector1">
            <a:avLst/>
          </a:prstGeom>
          <a:noFill/>
          <a:ln cap="flat" cmpd="sng" w="19050">
            <a:solidFill>
              <a:schemeClr val="accent4"/>
            </a:solidFill>
            <a:prstDash val="dash"/>
            <a:round/>
            <a:headEnd len="sm" w="sm" type="none"/>
            <a:tailEnd len="sm" w="sm" type="none"/>
          </a:ln>
        </p:spPr>
      </p:cxnSp>
      <p:cxnSp>
        <p:nvCxnSpPr>
          <p:cNvPr id="191" name="Google Shape;191;p5"/>
          <p:cNvCxnSpPr/>
          <p:nvPr/>
        </p:nvCxnSpPr>
        <p:spPr>
          <a:xfrm rot="10800000">
            <a:off x="1362456" y="3840480"/>
            <a:ext cx="0" cy="411480"/>
          </a:xfrm>
          <a:prstGeom prst="straightConnector1">
            <a:avLst/>
          </a:prstGeom>
          <a:noFill/>
          <a:ln cap="flat" cmpd="sng" w="19050">
            <a:solidFill>
              <a:schemeClr val="accent4"/>
            </a:solidFill>
            <a:prstDash val="dash"/>
            <a:round/>
            <a:headEnd len="sm" w="sm" type="none"/>
            <a:tailEnd len="med" w="med" type="triangle"/>
          </a:ln>
        </p:spPr>
      </p:cxnSp>
      <p:sp>
        <p:nvSpPr>
          <p:cNvPr id="192" name="Google Shape;192;p5"/>
          <p:cNvSpPr txBox="1"/>
          <p:nvPr/>
        </p:nvSpPr>
        <p:spPr>
          <a:xfrm>
            <a:off x="2011680" y="4325112"/>
            <a:ext cx="813816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not recovered yet → next iteration with what was learned (budget: 8 steps), else escalate with the full trace</a:t>
            </a:r>
            <a:endParaRPr b="0" i="0" sz="1200" u="none" cap="none" strike="noStrike">
              <a:solidFill>
                <a:schemeClr val="dk1"/>
              </a:solidFill>
              <a:latin typeface="Calibri"/>
              <a:ea typeface="Calibri"/>
              <a:cs typeface="Calibri"/>
              <a:sym typeface="Calibri"/>
            </a:endParaRPr>
          </a:p>
        </p:txBody>
      </p:sp>
      <p:sp>
        <p:nvSpPr>
          <p:cNvPr id="193" name="Google Shape;193;p5"/>
          <p:cNvSpPr/>
          <p:nvPr/>
        </p:nvSpPr>
        <p:spPr>
          <a:xfrm>
            <a:off x="548640" y="4892040"/>
            <a:ext cx="11091672" cy="1188720"/>
          </a:xfrm>
          <a:prstGeom prst="roundRect">
            <a:avLst>
              <a:gd fmla="val 923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txBox="1"/>
          <p:nvPr/>
        </p:nvSpPr>
        <p:spPr>
          <a:xfrm>
            <a:off x="868680" y="5029200"/>
            <a:ext cx="10424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600"/>
              <a:buFont typeface="Calibri"/>
              <a:buNone/>
            </a:pPr>
            <a:r>
              <a:rPr b="1" i="0" lang="en-US" sz="1600" u="none" cap="none" strike="noStrike">
                <a:solidFill>
                  <a:schemeClr val="accent3"/>
                </a:solidFill>
                <a:latin typeface="Calibri"/>
                <a:ea typeface="Calibri"/>
                <a:cs typeface="Calibri"/>
                <a:sym typeface="Calibri"/>
              </a:rPr>
              <a:t>Design principle  </a:t>
            </a:r>
            <a:r>
              <a:rPr b="0" i="0" lang="en-US" sz="1600" u="none" cap="none" strike="noStrike">
                <a:solidFill>
                  <a:schemeClr val="lt1"/>
                </a:solidFill>
                <a:latin typeface="Calibri"/>
                <a:ea typeface="Calibri"/>
                <a:cs typeface="Calibri"/>
                <a:sym typeface="Calibri"/>
              </a:rPr>
              <a:t>The LLM reasons over compact evidence and never touches raw telemetry. Deterministic components make it safe (the safety gate) and honest (the verification gate): “recovered” is only reported when the telemetry confirms it.</a:t>
            </a:r>
            <a:endParaRPr b="0" i="0" sz="1600" u="none" cap="none" strike="noStrike">
              <a:solidFill>
                <a:schemeClr val="dk1"/>
              </a:solidFill>
              <a:latin typeface="Calibri"/>
              <a:ea typeface="Calibri"/>
              <a:cs typeface="Calibri"/>
              <a:sym typeface="Calibri"/>
            </a:endParaRPr>
          </a:p>
        </p:txBody>
      </p:sp>
      <p:sp>
        <p:nvSpPr>
          <p:cNvPr id="195" name="Google Shape;195;p5"/>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6"/>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latin typeface="Cambria"/>
                <a:ea typeface="Cambria"/>
                <a:cs typeface="Cambria"/>
                <a:sym typeface="Cambria"/>
              </a:rPr>
              <a:t>How it’s built</a:t>
            </a:r>
            <a:endParaRPr sz="3600"/>
          </a:p>
        </p:txBody>
      </p:sp>
      <p:sp>
        <p:nvSpPr>
          <p:cNvPr id="202" name="Google Shape;202;p6"/>
          <p:cNvSpPr/>
          <p:nvPr/>
        </p:nvSpPr>
        <p:spPr>
          <a:xfrm>
            <a:off x="548640" y="132588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I model" id="203" name="Google Shape;203;p6"/>
          <p:cNvPicPr preferRelativeResize="0"/>
          <p:nvPr/>
        </p:nvPicPr>
        <p:blipFill rotWithShape="1">
          <a:blip r:embed="rId3">
            <a:alphaModFix/>
          </a:blip>
          <a:srcRect b="0" l="0" r="0" t="0"/>
          <a:stretch/>
        </p:blipFill>
        <p:spPr>
          <a:xfrm>
            <a:off x="672084" y="1449324"/>
            <a:ext cx="210312" cy="210312"/>
          </a:xfrm>
          <a:prstGeom prst="rect">
            <a:avLst/>
          </a:prstGeom>
          <a:noFill/>
          <a:ln>
            <a:noFill/>
          </a:ln>
        </p:spPr>
      </p:pic>
      <p:sp>
        <p:nvSpPr>
          <p:cNvPr id="204" name="Google Shape;204;p6"/>
          <p:cNvSpPr txBox="1"/>
          <p:nvPr/>
        </p:nvSpPr>
        <p:spPr>
          <a:xfrm>
            <a:off x="1188720" y="1399032"/>
            <a:ext cx="1600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AI model</a:t>
            </a:r>
            <a:endParaRPr b="0" i="0" sz="1500" u="none" cap="none" strike="noStrike">
              <a:solidFill>
                <a:schemeClr val="dk1"/>
              </a:solidFill>
              <a:latin typeface="Calibri"/>
              <a:ea typeface="Calibri"/>
              <a:cs typeface="Calibri"/>
              <a:sym typeface="Calibri"/>
            </a:endParaRPr>
          </a:p>
        </p:txBody>
      </p:sp>
      <p:sp>
        <p:nvSpPr>
          <p:cNvPr id="205" name="Google Shape;205;p6"/>
          <p:cNvSpPr txBox="1"/>
          <p:nvPr/>
        </p:nvSpPr>
        <p:spPr>
          <a:xfrm>
            <a:off x="2788920" y="1399032"/>
            <a:ext cx="4023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qwen2.5:7b via Ollama, local, temperature 0, schema-validated JSON</a:t>
            </a:r>
            <a:endParaRPr b="0" i="0" sz="1300" u="none" cap="none" strike="noStrike">
              <a:solidFill>
                <a:schemeClr val="dk1"/>
              </a:solidFill>
              <a:latin typeface="Calibri"/>
              <a:ea typeface="Calibri"/>
              <a:cs typeface="Calibri"/>
              <a:sym typeface="Calibri"/>
            </a:endParaRPr>
          </a:p>
        </p:txBody>
      </p:sp>
      <p:sp>
        <p:nvSpPr>
          <p:cNvPr id="206" name="Google Shape;206;p6"/>
          <p:cNvSpPr/>
          <p:nvPr/>
        </p:nvSpPr>
        <p:spPr>
          <a:xfrm>
            <a:off x="548640" y="2130552"/>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etectors" id="207" name="Google Shape;207;p6"/>
          <p:cNvPicPr preferRelativeResize="0"/>
          <p:nvPr/>
        </p:nvPicPr>
        <p:blipFill rotWithShape="1">
          <a:blip r:embed="rId4">
            <a:alphaModFix/>
          </a:blip>
          <a:srcRect b="0" l="0" r="0" t="0"/>
          <a:stretch/>
        </p:blipFill>
        <p:spPr>
          <a:xfrm>
            <a:off x="672084" y="2253996"/>
            <a:ext cx="210312" cy="210312"/>
          </a:xfrm>
          <a:prstGeom prst="rect">
            <a:avLst/>
          </a:prstGeom>
          <a:noFill/>
          <a:ln>
            <a:noFill/>
          </a:ln>
        </p:spPr>
      </p:pic>
      <p:sp>
        <p:nvSpPr>
          <p:cNvPr id="208" name="Google Shape;208;p6"/>
          <p:cNvSpPr txBox="1"/>
          <p:nvPr/>
        </p:nvSpPr>
        <p:spPr>
          <a:xfrm>
            <a:off x="1188720" y="2203704"/>
            <a:ext cx="1600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Detectors</a:t>
            </a:r>
            <a:endParaRPr b="0" i="0" sz="1500" u="none" cap="none" strike="noStrike">
              <a:solidFill>
                <a:schemeClr val="dk1"/>
              </a:solidFill>
              <a:latin typeface="Calibri"/>
              <a:ea typeface="Calibri"/>
              <a:cs typeface="Calibri"/>
              <a:sym typeface="Calibri"/>
            </a:endParaRPr>
          </a:p>
        </p:txBody>
      </p:sp>
      <p:sp>
        <p:nvSpPr>
          <p:cNvPr id="209" name="Google Shape;209;p6"/>
          <p:cNvSpPr txBox="1"/>
          <p:nvPr/>
        </p:nvSpPr>
        <p:spPr>
          <a:xfrm>
            <a:off x="2788920" y="2203704"/>
            <a:ext cx="4023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Robust z-scores, log templates, dependency ranker, RandomForest beacon detector (AP 0.999 on a synthetic test set)</a:t>
            </a:r>
            <a:endParaRPr b="0" i="0" sz="1300" u="none" cap="none" strike="noStrike">
              <a:solidFill>
                <a:schemeClr val="dk1"/>
              </a:solidFill>
              <a:latin typeface="Calibri"/>
              <a:ea typeface="Calibri"/>
              <a:cs typeface="Calibri"/>
              <a:sym typeface="Calibri"/>
            </a:endParaRPr>
          </a:p>
        </p:txBody>
      </p:sp>
      <p:sp>
        <p:nvSpPr>
          <p:cNvPr id="210" name="Google Shape;210;p6"/>
          <p:cNvSpPr/>
          <p:nvPr/>
        </p:nvSpPr>
        <p:spPr>
          <a:xfrm>
            <a:off x="548640" y="2935224"/>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nvironments" id="211" name="Google Shape;211;p6"/>
          <p:cNvPicPr preferRelativeResize="0"/>
          <p:nvPr/>
        </p:nvPicPr>
        <p:blipFill rotWithShape="1">
          <a:blip r:embed="rId5">
            <a:alphaModFix/>
          </a:blip>
          <a:srcRect b="0" l="0" r="0" t="0"/>
          <a:stretch/>
        </p:blipFill>
        <p:spPr>
          <a:xfrm>
            <a:off x="672084" y="3058668"/>
            <a:ext cx="210312" cy="210312"/>
          </a:xfrm>
          <a:prstGeom prst="rect">
            <a:avLst/>
          </a:prstGeom>
          <a:noFill/>
          <a:ln>
            <a:noFill/>
          </a:ln>
        </p:spPr>
      </p:pic>
      <p:sp>
        <p:nvSpPr>
          <p:cNvPr id="212" name="Google Shape;212;p6"/>
          <p:cNvSpPr txBox="1"/>
          <p:nvPr/>
        </p:nvSpPr>
        <p:spPr>
          <a:xfrm>
            <a:off x="1188720" y="3008376"/>
            <a:ext cx="1600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Environments</a:t>
            </a:r>
            <a:endParaRPr b="0" i="0" sz="1500" u="none" cap="none" strike="noStrike">
              <a:solidFill>
                <a:schemeClr val="dk1"/>
              </a:solidFill>
              <a:latin typeface="Calibri"/>
              <a:ea typeface="Calibri"/>
              <a:cs typeface="Calibri"/>
              <a:sym typeface="Calibri"/>
            </a:endParaRPr>
          </a:p>
        </p:txBody>
      </p:sp>
      <p:sp>
        <p:nvSpPr>
          <p:cNvPr id="213" name="Google Shape;213;p6"/>
          <p:cNvSpPr txBox="1"/>
          <p:nvPr/>
        </p:nvSpPr>
        <p:spPr>
          <a:xfrm>
            <a:off x="2788920" y="3008376"/>
            <a:ext cx="4023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Simulator (5 services, 10 fault types) and a live system of 5 real processes</a:t>
            </a:r>
            <a:endParaRPr b="0" i="0" sz="1300" u="none" cap="none" strike="noStrike">
              <a:solidFill>
                <a:schemeClr val="dk1"/>
              </a:solidFill>
              <a:latin typeface="Calibri"/>
              <a:ea typeface="Calibri"/>
              <a:cs typeface="Calibri"/>
              <a:sym typeface="Calibri"/>
            </a:endParaRPr>
          </a:p>
        </p:txBody>
      </p:sp>
      <p:sp>
        <p:nvSpPr>
          <p:cNvPr id="214" name="Google Shape;214;p6"/>
          <p:cNvSpPr/>
          <p:nvPr/>
        </p:nvSpPr>
        <p:spPr>
          <a:xfrm>
            <a:off x="548640" y="3739896"/>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enchmark" id="215" name="Google Shape;215;p6"/>
          <p:cNvPicPr preferRelativeResize="0"/>
          <p:nvPr/>
        </p:nvPicPr>
        <p:blipFill rotWithShape="1">
          <a:blip r:embed="rId6">
            <a:alphaModFix/>
          </a:blip>
          <a:srcRect b="0" l="0" r="0" t="0"/>
          <a:stretch/>
        </p:blipFill>
        <p:spPr>
          <a:xfrm>
            <a:off x="672084" y="3863340"/>
            <a:ext cx="210312" cy="210312"/>
          </a:xfrm>
          <a:prstGeom prst="rect">
            <a:avLst/>
          </a:prstGeom>
          <a:noFill/>
          <a:ln>
            <a:noFill/>
          </a:ln>
        </p:spPr>
      </p:pic>
      <p:sp>
        <p:nvSpPr>
          <p:cNvPr id="216" name="Google Shape;216;p6"/>
          <p:cNvSpPr txBox="1"/>
          <p:nvPr/>
        </p:nvSpPr>
        <p:spPr>
          <a:xfrm>
            <a:off x="1188720" y="3813048"/>
            <a:ext cx="1600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Benchmark</a:t>
            </a:r>
            <a:endParaRPr b="0" i="0" sz="1500" u="none" cap="none" strike="noStrike">
              <a:solidFill>
                <a:schemeClr val="dk1"/>
              </a:solidFill>
              <a:latin typeface="Calibri"/>
              <a:ea typeface="Calibri"/>
              <a:cs typeface="Calibri"/>
              <a:sym typeface="Calibri"/>
            </a:endParaRPr>
          </a:p>
        </p:txBody>
      </p:sp>
      <p:sp>
        <p:nvSpPr>
          <p:cNvPr id="217" name="Google Shape;217;p6"/>
          <p:cNvSpPr txBox="1"/>
          <p:nvPr/>
        </p:nvSpPr>
        <p:spPr>
          <a:xfrm>
            <a:off x="2788920" y="3813048"/>
            <a:ext cx="4023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30 dev / 20 held-out scenarios, 5 perturbations, 5 baselines, 4 ablations</a:t>
            </a:r>
            <a:endParaRPr b="0" i="0" sz="1300" u="none" cap="none" strike="noStrike">
              <a:solidFill>
                <a:schemeClr val="dk1"/>
              </a:solidFill>
              <a:latin typeface="Calibri"/>
              <a:ea typeface="Calibri"/>
              <a:cs typeface="Calibri"/>
              <a:sym typeface="Calibri"/>
            </a:endParaRPr>
          </a:p>
        </p:txBody>
      </p:sp>
      <p:sp>
        <p:nvSpPr>
          <p:cNvPr id="218" name="Google Shape;218;p6"/>
          <p:cNvSpPr/>
          <p:nvPr/>
        </p:nvSpPr>
        <p:spPr>
          <a:xfrm>
            <a:off x="548640" y="4544568"/>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ngineering" id="219" name="Google Shape;219;p6"/>
          <p:cNvPicPr preferRelativeResize="0"/>
          <p:nvPr/>
        </p:nvPicPr>
        <p:blipFill rotWithShape="1">
          <a:blip r:embed="rId7">
            <a:alphaModFix/>
          </a:blip>
          <a:srcRect b="0" l="0" r="0" t="0"/>
          <a:stretch/>
        </p:blipFill>
        <p:spPr>
          <a:xfrm>
            <a:off x="672084" y="4668012"/>
            <a:ext cx="210312" cy="210312"/>
          </a:xfrm>
          <a:prstGeom prst="rect">
            <a:avLst/>
          </a:prstGeom>
          <a:noFill/>
          <a:ln>
            <a:noFill/>
          </a:ln>
        </p:spPr>
      </p:pic>
      <p:sp>
        <p:nvSpPr>
          <p:cNvPr id="220" name="Google Shape;220;p6"/>
          <p:cNvSpPr txBox="1"/>
          <p:nvPr/>
        </p:nvSpPr>
        <p:spPr>
          <a:xfrm>
            <a:off x="1188720" y="4617720"/>
            <a:ext cx="1600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Engineering</a:t>
            </a:r>
            <a:endParaRPr b="0" i="0" sz="1500" u="none" cap="none" strike="noStrike">
              <a:solidFill>
                <a:schemeClr val="dk1"/>
              </a:solidFill>
              <a:latin typeface="Calibri"/>
              <a:ea typeface="Calibri"/>
              <a:cs typeface="Calibri"/>
              <a:sym typeface="Calibri"/>
            </a:endParaRPr>
          </a:p>
        </p:txBody>
      </p:sp>
      <p:sp>
        <p:nvSpPr>
          <p:cNvPr id="221" name="Google Shape;221;p6"/>
          <p:cNvSpPr txBox="1"/>
          <p:nvPr/>
        </p:nvSpPr>
        <p:spPr>
          <a:xfrm>
            <a:off x="2788920" y="4617720"/>
            <a:ext cx="4023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Python 3.12, 109 tests, CI, record/replay cache for every LLM call</a:t>
            </a:r>
            <a:endParaRPr b="0" i="0" sz="1300" u="none" cap="none" strike="noStrike">
              <a:solidFill>
                <a:schemeClr val="dk1"/>
              </a:solidFill>
              <a:latin typeface="Calibri"/>
              <a:ea typeface="Calibri"/>
              <a:cs typeface="Calibri"/>
              <a:sym typeface="Calibri"/>
            </a:endParaRPr>
          </a:p>
        </p:txBody>
      </p:sp>
      <p:sp>
        <p:nvSpPr>
          <p:cNvPr id="222" name="Google Shape;222;p6"/>
          <p:cNvSpPr/>
          <p:nvPr/>
        </p:nvSpPr>
        <p:spPr>
          <a:xfrm>
            <a:off x="548640" y="5349240"/>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ootprint" id="223" name="Google Shape;223;p6"/>
          <p:cNvPicPr preferRelativeResize="0"/>
          <p:nvPr/>
        </p:nvPicPr>
        <p:blipFill rotWithShape="1">
          <a:blip r:embed="rId8">
            <a:alphaModFix/>
          </a:blip>
          <a:srcRect b="0" l="0" r="0" t="0"/>
          <a:stretch/>
        </p:blipFill>
        <p:spPr>
          <a:xfrm>
            <a:off x="672084" y="5472684"/>
            <a:ext cx="210312" cy="210312"/>
          </a:xfrm>
          <a:prstGeom prst="rect">
            <a:avLst/>
          </a:prstGeom>
          <a:noFill/>
          <a:ln>
            <a:noFill/>
          </a:ln>
        </p:spPr>
      </p:pic>
      <p:sp>
        <p:nvSpPr>
          <p:cNvPr id="224" name="Google Shape;224;p6"/>
          <p:cNvSpPr txBox="1"/>
          <p:nvPr/>
        </p:nvSpPr>
        <p:spPr>
          <a:xfrm>
            <a:off x="1188720" y="5422392"/>
            <a:ext cx="1600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Footprint</a:t>
            </a:r>
            <a:endParaRPr b="0" i="0" sz="1500" u="none" cap="none" strike="noStrike">
              <a:solidFill>
                <a:schemeClr val="dk1"/>
              </a:solidFill>
              <a:latin typeface="Calibri"/>
              <a:ea typeface="Calibri"/>
              <a:cs typeface="Calibri"/>
              <a:sym typeface="Calibri"/>
            </a:endParaRPr>
          </a:p>
        </p:txBody>
      </p:sp>
      <p:sp>
        <p:nvSpPr>
          <p:cNvPr id="225" name="Google Shape;225;p6"/>
          <p:cNvSpPr txBox="1"/>
          <p:nvPr/>
        </p:nvSpPr>
        <p:spPr>
          <a:xfrm>
            <a:off x="2788920" y="5422392"/>
            <a:ext cx="4023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One laptop: no cloud, no Docker, no GPU needed to replay results</a:t>
            </a:r>
            <a:endParaRPr b="0" i="0" sz="1300" u="none" cap="none" strike="noStrike">
              <a:solidFill>
                <a:schemeClr val="dk1"/>
              </a:solidFill>
              <a:latin typeface="Calibri"/>
              <a:ea typeface="Calibri"/>
              <a:cs typeface="Calibri"/>
              <a:sym typeface="Calibri"/>
            </a:endParaRPr>
          </a:p>
        </p:txBody>
      </p:sp>
      <p:sp>
        <p:nvSpPr>
          <p:cNvPr id="226" name="Google Shape;226;p6"/>
          <p:cNvSpPr/>
          <p:nvPr/>
        </p:nvSpPr>
        <p:spPr>
          <a:xfrm>
            <a:off x="7178040" y="1325880"/>
            <a:ext cx="4480560" cy="4800600"/>
          </a:xfrm>
          <a:prstGeom prst="roundRect">
            <a:avLst>
              <a:gd fmla="val 244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txBox="1"/>
          <p:nvPr/>
        </p:nvSpPr>
        <p:spPr>
          <a:xfrm>
            <a:off x="7452360" y="1508760"/>
            <a:ext cx="40233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900"/>
              <a:buFont typeface="Cambria"/>
              <a:buNone/>
            </a:pPr>
            <a:r>
              <a:rPr b="1" i="0" lang="en-US" sz="1900" u="none" cap="none" strike="noStrike">
                <a:solidFill>
                  <a:schemeClr val="lt1"/>
                </a:solidFill>
                <a:latin typeface="Cambria"/>
                <a:ea typeface="Cambria"/>
                <a:cs typeface="Cambria"/>
                <a:sym typeface="Cambria"/>
              </a:rPr>
              <a:t>Live demo on real processes</a:t>
            </a:r>
            <a:endParaRPr b="0" i="0" sz="1900" u="none" cap="none" strike="noStrike">
              <a:solidFill>
                <a:schemeClr val="dk1"/>
              </a:solidFill>
              <a:latin typeface="Calibri"/>
              <a:ea typeface="Calibri"/>
              <a:cs typeface="Calibri"/>
              <a:sym typeface="Calibri"/>
            </a:endParaRPr>
          </a:p>
        </p:txBody>
      </p:sp>
      <p:sp>
        <p:nvSpPr>
          <p:cNvPr id="228" name="Google Shape;228;p6"/>
          <p:cNvSpPr txBox="1"/>
          <p:nvPr/>
        </p:nvSpPr>
        <p:spPr>
          <a:xfrm>
            <a:off x="7452360" y="1965960"/>
            <a:ext cx="39776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300"/>
              <a:buFont typeface="Calibri"/>
              <a:buNone/>
            </a:pPr>
            <a:r>
              <a:rPr b="0" i="0" lang="en-US" sz="1300" u="none" cap="none" strike="noStrike">
                <a:solidFill>
                  <a:schemeClr val="lt2"/>
                </a:solidFill>
                <a:latin typeface="Calibri"/>
                <a:ea typeface="Calibri"/>
                <a:cs typeface="Calibri"/>
                <a:sym typeface="Calibri"/>
              </a:rPr>
              <a:t>3 concurrent faults: memory leak (api), connection-pool exhaustion (db), C2 beacon (worker). Health falls from 1.00 to 0.10.</a:t>
            </a:r>
            <a:endParaRPr b="0" i="0" sz="1300" u="none" cap="none" strike="noStrike">
              <a:solidFill>
                <a:schemeClr val="dk1"/>
              </a:solidFill>
              <a:latin typeface="Calibri"/>
              <a:ea typeface="Calibri"/>
              <a:cs typeface="Calibri"/>
              <a:sym typeface="Calibri"/>
            </a:endParaRPr>
          </a:p>
        </p:txBody>
      </p:sp>
      <p:sp>
        <p:nvSpPr>
          <p:cNvPr id="229" name="Google Shape;229;p6"/>
          <p:cNvSpPr/>
          <p:nvPr/>
        </p:nvSpPr>
        <p:spPr>
          <a:xfrm>
            <a:off x="7452360" y="2926080"/>
            <a:ext cx="384048" cy="38404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txBox="1"/>
          <p:nvPr/>
        </p:nvSpPr>
        <p:spPr>
          <a:xfrm>
            <a:off x="7452360" y="2944368"/>
            <a:ext cx="38404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31" name="Google Shape;231;p6"/>
          <p:cNvSpPr txBox="1"/>
          <p:nvPr/>
        </p:nvSpPr>
        <p:spPr>
          <a:xfrm>
            <a:off x="8001000" y="2907792"/>
            <a:ext cx="34747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Model proposes restarting the worker. Safety gate blocks it: beacon open, contain first.</a:t>
            </a:r>
            <a:endParaRPr b="0" i="0" sz="1300" u="none" cap="none" strike="noStrike">
              <a:solidFill>
                <a:schemeClr val="dk1"/>
              </a:solidFill>
              <a:latin typeface="Calibri"/>
              <a:ea typeface="Calibri"/>
              <a:cs typeface="Calibri"/>
              <a:sym typeface="Calibri"/>
            </a:endParaRPr>
          </a:p>
        </p:txBody>
      </p:sp>
      <p:sp>
        <p:nvSpPr>
          <p:cNvPr id="232" name="Google Shape;232;p6"/>
          <p:cNvSpPr/>
          <p:nvPr/>
        </p:nvSpPr>
        <p:spPr>
          <a:xfrm>
            <a:off x="7452360" y="3767328"/>
            <a:ext cx="384048" cy="38404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txBox="1"/>
          <p:nvPr/>
        </p:nvSpPr>
        <p:spPr>
          <a:xfrm>
            <a:off x="7452360" y="3785616"/>
            <a:ext cx="38404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34" name="Google Shape;234;p6"/>
          <p:cNvSpPr txBox="1"/>
          <p:nvPr/>
        </p:nvSpPr>
        <p:spPr>
          <a:xfrm>
            <a:off x="8001000" y="3749040"/>
            <a:ext cx="34747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Fixes db and api; verifier refuses “recovered” while the beacon persists.</a:t>
            </a:r>
            <a:endParaRPr b="0" i="0" sz="1300" u="none" cap="none" strike="noStrike">
              <a:solidFill>
                <a:schemeClr val="dk1"/>
              </a:solidFill>
              <a:latin typeface="Calibri"/>
              <a:ea typeface="Calibri"/>
              <a:cs typeface="Calibri"/>
              <a:sym typeface="Calibri"/>
            </a:endParaRPr>
          </a:p>
        </p:txBody>
      </p:sp>
      <p:sp>
        <p:nvSpPr>
          <p:cNvPr id="235" name="Google Shape;235;p6"/>
          <p:cNvSpPr/>
          <p:nvPr/>
        </p:nvSpPr>
        <p:spPr>
          <a:xfrm>
            <a:off x="7452360" y="4608576"/>
            <a:ext cx="384048" cy="38404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txBox="1"/>
          <p:nvPr/>
        </p:nvSpPr>
        <p:spPr>
          <a:xfrm>
            <a:off x="7452360" y="4626864"/>
            <a:ext cx="38404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37" name="Google Shape;237;p6"/>
          <p:cNvSpPr txBox="1"/>
          <p:nvPr/>
        </p:nvSpPr>
        <p:spPr>
          <a:xfrm>
            <a:off x="8001000" y="4590288"/>
            <a:ext cx="34747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Blocks worker egress, then restarts it. Verified recovered, health 1.00.</a:t>
            </a:r>
            <a:endParaRPr b="0" i="0" sz="1300" u="none" cap="none" strike="noStrike">
              <a:solidFill>
                <a:schemeClr val="dk1"/>
              </a:solidFill>
              <a:latin typeface="Calibri"/>
              <a:ea typeface="Calibri"/>
              <a:cs typeface="Calibri"/>
              <a:sym typeface="Calibri"/>
            </a:endParaRPr>
          </a:p>
        </p:txBody>
      </p:sp>
      <p:sp>
        <p:nvSpPr>
          <p:cNvPr id="238" name="Google Shape;238;p6"/>
          <p:cNvSpPr txBox="1"/>
          <p:nvPr/>
        </p:nvSpPr>
        <p:spPr>
          <a:xfrm>
            <a:off x="7452360" y="5532120"/>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6 LLM calls  ·  9,058 tokens  ·  restart before containment: 0</a:t>
            </a:r>
            <a:endParaRPr b="0" i="0" sz="1300" u="none" cap="none" strike="noStrike">
              <a:solidFill>
                <a:schemeClr val="dk1"/>
              </a:solidFill>
              <a:latin typeface="Calibri"/>
              <a:ea typeface="Calibri"/>
              <a:cs typeface="Calibri"/>
              <a:sym typeface="Calibri"/>
            </a:endParaRPr>
          </a:p>
        </p:txBody>
      </p:sp>
      <p:sp>
        <p:nvSpPr>
          <p:cNvPr id="239" name="Google Shape;239;p6"/>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7"/>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latin typeface="Cambria"/>
                <a:ea typeface="Cambria"/>
                <a:cs typeface="Cambria"/>
                <a:sym typeface="Cambria"/>
              </a:rPr>
              <a:t>Results on incidents it had never seen</a:t>
            </a:r>
            <a:endParaRPr sz="3600"/>
          </a:p>
        </p:txBody>
      </p:sp>
      <p:graphicFrame>
        <p:nvGraphicFramePr>
          <p:cNvPr descr="Clustered column chart of recovered, top-1 and false recovery rates for six configurations on the held-out split" id="246" name="Google Shape;246;p7"/>
          <p:cNvGraphicFramePr/>
          <p:nvPr/>
        </p:nvGraphicFramePr>
        <p:xfrm>
          <a:off x="457200" y="1234440"/>
          <a:ext cx="7589520" cy="4572000"/>
        </p:xfrm>
        <a:graphic>
          <a:graphicData uri="http://schemas.openxmlformats.org/drawingml/2006/chart">
            <c:chart r:id="rId3"/>
          </a:graphicData>
        </a:graphic>
      </p:graphicFrame>
      <p:sp>
        <p:nvSpPr>
          <p:cNvPr id="247" name="Google Shape;247;p7"/>
          <p:cNvSpPr/>
          <p:nvPr/>
        </p:nvSpPr>
        <p:spPr>
          <a:xfrm>
            <a:off x="8366760" y="1280160"/>
            <a:ext cx="3291840" cy="1005840"/>
          </a:xfrm>
          <a:prstGeom prst="roundRect">
            <a:avLst>
              <a:gd fmla="val 1090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txBox="1"/>
          <p:nvPr/>
        </p:nvSpPr>
        <p:spPr>
          <a:xfrm>
            <a:off x="8595360" y="1389888"/>
            <a:ext cx="14630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200"/>
              <a:buFont typeface="Cambria"/>
              <a:buNone/>
            </a:pPr>
            <a:r>
              <a:rPr b="1" i="0" lang="en-US" sz="3200" u="none" cap="none" strike="noStrike">
                <a:solidFill>
                  <a:schemeClr val="accent1"/>
                </a:solidFill>
                <a:latin typeface="Cambria"/>
                <a:ea typeface="Cambria"/>
                <a:cs typeface="Cambria"/>
                <a:sym typeface="Cambria"/>
              </a:rPr>
              <a:t>100%</a:t>
            </a:r>
            <a:endParaRPr b="0" i="0" sz="3200" u="none" cap="none" strike="noStrike">
              <a:solidFill>
                <a:schemeClr val="dk1"/>
              </a:solidFill>
              <a:latin typeface="Calibri"/>
              <a:ea typeface="Calibri"/>
              <a:cs typeface="Calibri"/>
              <a:sym typeface="Calibri"/>
            </a:endParaRPr>
          </a:p>
        </p:txBody>
      </p:sp>
      <p:sp>
        <p:nvSpPr>
          <p:cNvPr id="249" name="Google Shape;249;p7"/>
          <p:cNvSpPr txBox="1"/>
          <p:nvPr/>
        </p:nvSpPr>
        <p:spPr>
          <a:xfrm>
            <a:off x="10012680" y="1444752"/>
            <a:ext cx="1600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recovered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D5F55"/>
              </a:buClr>
              <a:buSzPts val="1200"/>
              <a:buFont typeface="Calibri"/>
              <a:buNone/>
            </a:pPr>
            <a:r>
              <a:rPr b="0" i="0" lang="en-US" sz="1200" u="none" cap="none" strike="noStrike">
                <a:solidFill>
                  <a:srgbClr val="4D5F55"/>
                </a:solidFill>
                <a:latin typeface="Calibri"/>
                <a:ea typeface="Calibri"/>
                <a:cs typeface="Calibri"/>
                <a:sym typeface="Calibri"/>
              </a:rPr>
              <a:t>95% CI 100–100</a:t>
            </a:r>
            <a:endParaRPr b="0" i="0" sz="1200" u="none" cap="none" strike="noStrike">
              <a:solidFill>
                <a:schemeClr val="dk1"/>
              </a:solidFill>
              <a:latin typeface="Calibri"/>
              <a:ea typeface="Calibri"/>
              <a:cs typeface="Calibri"/>
              <a:sym typeface="Calibri"/>
            </a:endParaRPr>
          </a:p>
        </p:txBody>
      </p:sp>
      <p:sp>
        <p:nvSpPr>
          <p:cNvPr id="250" name="Google Shape;250;p7"/>
          <p:cNvSpPr/>
          <p:nvPr/>
        </p:nvSpPr>
        <p:spPr>
          <a:xfrm>
            <a:off x="8366760" y="2423160"/>
            <a:ext cx="3291840" cy="1005840"/>
          </a:xfrm>
          <a:prstGeom prst="roundRect">
            <a:avLst>
              <a:gd fmla="val 1090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txBox="1"/>
          <p:nvPr/>
        </p:nvSpPr>
        <p:spPr>
          <a:xfrm>
            <a:off x="8595360" y="2532888"/>
            <a:ext cx="14630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200"/>
              <a:buFont typeface="Cambria"/>
              <a:buNone/>
            </a:pPr>
            <a:r>
              <a:rPr b="1" i="0" lang="en-US" sz="3200" u="none" cap="none" strike="noStrike">
                <a:solidFill>
                  <a:schemeClr val="accent1"/>
                </a:solidFill>
                <a:latin typeface="Cambria"/>
                <a:ea typeface="Cambria"/>
                <a:cs typeface="Cambria"/>
                <a:sym typeface="Cambria"/>
              </a:rPr>
              <a:t>92%</a:t>
            </a:r>
            <a:endParaRPr b="0" i="0" sz="3200" u="none" cap="none" strike="noStrike">
              <a:solidFill>
                <a:schemeClr val="dk1"/>
              </a:solidFill>
              <a:latin typeface="Calibri"/>
              <a:ea typeface="Calibri"/>
              <a:cs typeface="Calibri"/>
              <a:sym typeface="Calibri"/>
            </a:endParaRPr>
          </a:p>
        </p:txBody>
      </p:sp>
      <p:sp>
        <p:nvSpPr>
          <p:cNvPr id="252" name="Google Shape;252;p7"/>
          <p:cNvSpPr txBox="1"/>
          <p:nvPr/>
        </p:nvSpPr>
        <p:spPr>
          <a:xfrm>
            <a:off x="10012680" y="2587752"/>
            <a:ext cx="1600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correct root cause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D5F55"/>
              </a:buClr>
              <a:buSzPts val="1200"/>
              <a:buFont typeface="Calibri"/>
              <a:buNone/>
            </a:pPr>
            <a:r>
              <a:rPr b="0" i="0" lang="en-US" sz="1200" u="none" cap="none" strike="noStrike">
                <a:solidFill>
                  <a:srgbClr val="4D5F55"/>
                </a:solidFill>
                <a:latin typeface="Calibri"/>
                <a:ea typeface="Calibri"/>
                <a:cs typeface="Calibri"/>
                <a:sym typeface="Calibri"/>
              </a:rPr>
              <a:t>per-fault recall 82%</a:t>
            </a:r>
            <a:endParaRPr b="0" i="0" sz="1200" u="none" cap="none" strike="noStrike">
              <a:solidFill>
                <a:schemeClr val="dk1"/>
              </a:solidFill>
              <a:latin typeface="Calibri"/>
              <a:ea typeface="Calibri"/>
              <a:cs typeface="Calibri"/>
              <a:sym typeface="Calibri"/>
            </a:endParaRPr>
          </a:p>
        </p:txBody>
      </p:sp>
      <p:sp>
        <p:nvSpPr>
          <p:cNvPr id="253" name="Google Shape;253;p7"/>
          <p:cNvSpPr/>
          <p:nvPr/>
        </p:nvSpPr>
        <p:spPr>
          <a:xfrm>
            <a:off x="8366760" y="3566160"/>
            <a:ext cx="3291840" cy="1005840"/>
          </a:xfrm>
          <a:prstGeom prst="roundRect">
            <a:avLst>
              <a:gd fmla="val 1090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txBox="1"/>
          <p:nvPr/>
        </p:nvSpPr>
        <p:spPr>
          <a:xfrm>
            <a:off x="8595360" y="3675888"/>
            <a:ext cx="14630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200"/>
              <a:buFont typeface="Cambria"/>
              <a:buNone/>
            </a:pPr>
            <a:r>
              <a:rPr b="1" i="0" lang="en-US" sz="3200" u="none" cap="none" strike="noStrike">
                <a:solidFill>
                  <a:schemeClr val="accent1"/>
                </a:solidFill>
                <a:latin typeface="Cambria"/>
                <a:ea typeface="Cambria"/>
                <a:cs typeface="Cambria"/>
                <a:sym typeface="Cambria"/>
              </a:rPr>
              <a:t>0%</a:t>
            </a:r>
            <a:endParaRPr b="0" i="0" sz="3200" u="none" cap="none" strike="noStrike">
              <a:solidFill>
                <a:schemeClr val="dk1"/>
              </a:solidFill>
              <a:latin typeface="Calibri"/>
              <a:ea typeface="Calibri"/>
              <a:cs typeface="Calibri"/>
              <a:sym typeface="Calibri"/>
            </a:endParaRPr>
          </a:p>
        </p:txBody>
      </p:sp>
      <p:sp>
        <p:nvSpPr>
          <p:cNvPr id="255" name="Google Shape;255;p7"/>
          <p:cNvSpPr txBox="1"/>
          <p:nvPr/>
        </p:nvSpPr>
        <p:spPr>
          <a:xfrm>
            <a:off x="10012680" y="3730752"/>
            <a:ext cx="1600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false “recovered”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D5F55"/>
              </a:buClr>
              <a:buSzPts val="1200"/>
              <a:buFont typeface="Calibri"/>
              <a:buNone/>
            </a:pPr>
            <a:r>
              <a:rPr b="0" i="0" lang="en-US" sz="1200" u="none" cap="none" strike="noStrike">
                <a:solidFill>
                  <a:srgbClr val="4D5F55"/>
                </a:solidFill>
                <a:latin typeface="Calibri"/>
                <a:ea typeface="Calibri"/>
                <a:cs typeface="Calibri"/>
                <a:sym typeface="Calibri"/>
              </a:rPr>
              <a:t>single-shot LLM: 70%</a:t>
            </a:r>
            <a:endParaRPr b="0" i="0" sz="1200" u="none" cap="none" strike="noStrike">
              <a:solidFill>
                <a:schemeClr val="dk1"/>
              </a:solidFill>
              <a:latin typeface="Calibri"/>
              <a:ea typeface="Calibri"/>
              <a:cs typeface="Calibri"/>
              <a:sym typeface="Calibri"/>
            </a:endParaRPr>
          </a:p>
        </p:txBody>
      </p:sp>
      <p:sp>
        <p:nvSpPr>
          <p:cNvPr id="256" name="Google Shape;256;p7"/>
          <p:cNvSpPr/>
          <p:nvPr/>
        </p:nvSpPr>
        <p:spPr>
          <a:xfrm>
            <a:off x="8366760" y="4709160"/>
            <a:ext cx="3291840" cy="1005840"/>
          </a:xfrm>
          <a:prstGeom prst="roundRect">
            <a:avLst>
              <a:gd fmla="val 1090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txBox="1"/>
          <p:nvPr/>
        </p:nvSpPr>
        <p:spPr>
          <a:xfrm>
            <a:off x="8595360" y="4818888"/>
            <a:ext cx="14630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200"/>
              <a:buFont typeface="Cambria"/>
              <a:buNone/>
            </a:pPr>
            <a:r>
              <a:rPr b="1" i="0" lang="en-US" sz="3200" u="none" cap="none" strike="noStrike">
                <a:solidFill>
                  <a:schemeClr val="accent1"/>
                </a:solidFill>
                <a:latin typeface="Cambria"/>
                <a:ea typeface="Cambria"/>
                <a:cs typeface="Cambria"/>
                <a:sym typeface="Cambria"/>
              </a:rPr>
              <a:t>6.1k</a:t>
            </a:r>
            <a:endParaRPr b="0" i="0" sz="3200" u="none" cap="none" strike="noStrike">
              <a:solidFill>
                <a:schemeClr val="dk1"/>
              </a:solidFill>
              <a:latin typeface="Calibri"/>
              <a:ea typeface="Calibri"/>
              <a:cs typeface="Calibri"/>
              <a:sym typeface="Calibri"/>
            </a:endParaRPr>
          </a:p>
        </p:txBody>
      </p:sp>
      <p:sp>
        <p:nvSpPr>
          <p:cNvPr id="258" name="Google Shape;258;p7"/>
          <p:cNvSpPr txBox="1"/>
          <p:nvPr/>
        </p:nvSpPr>
        <p:spPr>
          <a:xfrm>
            <a:off x="10012680" y="4873752"/>
            <a:ext cx="1600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tokens per incident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D5F55"/>
              </a:buClr>
              <a:buSzPts val="1200"/>
              <a:buFont typeface="Calibri"/>
              <a:buNone/>
            </a:pPr>
            <a:r>
              <a:rPr b="0" i="0" lang="en-US" sz="1200" u="none" cap="none" strike="noStrike">
                <a:solidFill>
                  <a:srgbClr val="4D5F55"/>
                </a:solidFill>
                <a:latin typeface="Calibri"/>
                <a:ea typeface="Calibri"/>
                <a:cs typeface="Calibri"/>
                <a:sym typeface="Calibri"/>
              </a:rPr>
              <a:t>LLM-only loop: 35k for 35%</a:t>
            </a:r>
            <a:endParaRPr b="0" i="0" sz="1200" u="none" cap="none" strike="noStrike">
              <a:solidFill>
                <a:schemeClr val="dk1"/>
              </a:solidFill>
              <a:latin typeface="Calibri"/>
              <a:ea typeface="Calibri"/>
              <a:cs typeface="Calibri"/>
              <a:sym typeface="Calibri"/>
            </a:endParaRPr>
          </a:p>
        </p:txBody>
      </p:sp>
      <p:sp>
        <p:nvSpPr>
          <p:cNvPr id="259" name="Google Shape;259;p7"/>
          <p:cNvSpPr txBox="1"/>
          <p:nvPr/>
        </p:nvSpPr>
        <p:spPr>
          <a:xfrm>
            <a:off x="548640" y="5897880"/>
            <a:ext cx="110642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100"/>
              <a:buFont typeface="Calibri"/>
              <a:buNone/>
            </a:pPr>
            <a:r>
              <a:rPr b="0" i="0" lang="en-US" sz="1100" u="none" cap="none" strike="noStrike">
                <a:solidFill>
                  <a:schemeClr val="accent4"/>
                </a:solidFill>
                <a:latin typeface="Calibri"/>
                <a:ea typeface="Calibri"/>
                <a:cs typeface="Calibri"/>
                <a:sym typeface="Calibri"/>
              </a:rPr>
              <a:t>Held-out split: 20 scenarios never used during development × 3 seeds = 60 runs per configuration (LLM-only loop: 1 seed, 20 runs). Agent frozen before the first held-out run. 95% bootstrap confidence intervals in the repo.</a:t>
            </a:r>
            <a:endParaRPr b="0" i="0" sz="1100" u="none" cap="none" strike="noStrike">
              <a:solidFill>
                <a:schemeClr val="dk1"/>
              </a:solidFill>
              <a:latin typeface="Calibri"/>
              <a:ea typeface="Calibri"/>
              <a:cs typeface="Calibri"/>
              <a:sym typeface="Calibri"/>
            </a:endParaRPr>
          </a:p>
        </p:txBody>
      </p:sp>
      <p:sp>
        <p:nvSpPr>
          <p:cNvPr id="260" name="Google Shape;260;p7"/>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8"/>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latin typeface="Cambria"/>
                <a:ea typeface="Cambria"/>
                <a:cs typeface="Cambria"/>
                <a:sym typeface="Cambria"/>
              </a:rPr>
              <a:t>Robust, and every component earns its place</a:t>
            </a:r>
            <a:endParaRPr sz="3600"/>
          </a:p>
        </p:txBody>
      </p:sp>
      <p:graphicFrame>
        <p:nvGraphicFramePr>
          <p:cNvPr descr="Recovered rate by number of concurrent faults for four configurations" id="267" name="Google Shape;267;p8"/>
          <p:cNvGraphicFramePr/>
          <p:nvPr/>
        </p:nvGraphicFramePr>
        <p:xfrm>
          <a:off x="457200" y="1234440"/>
          <a:ext cx="5577840" cy="3566160"/>
        </p:xfrm>
        <a:graphic>
          <a:graphicData uri="http://schemas.openxmlformats.org/drawingml/2006/chart">
            <c:chart r:id="rId3"/>
          </a:graphicData>
        </a:graphic>
      </p:graphicFrame>
      <p:graphicFrame>
        <p:nvGraphicFramePr>
          <p:cNvPr descr="Recovered and false recovery rates for the full agent and four ablations" id="268" name="Google Shape;268;p8"/>
          <p:cNvGraphicFramePr/>
          <p:nvPr/>
        </p:nvGraphicFramePr>
        <p:xfrm>
          <a:off x="6172200" y="1234440"/>
          <a:ext cx="5486400" cy="3566160"/>
        </p:xfrm>
        <a:graphic>
          <a:graphicData uri="http://schemas.openxmlformats.org/drawingml/2006/chart">
            <c:chart r:id="rId4"/>
          </a:graphicData>
        </a:graphic>
      </p:graphicFrame>
      <p:sp>
        <p:nvSpPr>
          <p:cNvPr id="269" name="Google Shape;269;p8"/>
          <p:cNvSpPr txBox="1"/>
          <p:nvPr/>
        </p:nvSpPr>
        <p:spPr>
          <a:xfrm>
            <a:off x="6263640" y="4800600"/>
            <a:ext cx="53949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1" lang="en-US" sz="1100" u="none" cap="none" strike="noStrike">
                <a:solidFill>
                  <a:schemeClr val="accent6"/>
                </a:solidFill>
                <a:latin typeface="Calibri"/>
                <a:ea typeface="Calibri"/>
                <a:cs typeface="Calibri"/>
                <a:sym typeface="Calibri"/>
              </a:rPr>
              <a:t>Without the safety layer recovery is unchanged, but 0.60 harmful actions per run appear.</a:t>
            </a:r>
            <a:endParaRPr b="0" i="0" sz="1100" u="none" cap="none" strike="noStrike">
              <a:solidFill>
                <a:schemeClr val="dk1"/>
              </a:solidFill>
              <a:latin typeface="Calibri"/>
              <a:ea typeface="Calibri"/>
              <a:cs typeface="Calibri"/>
              <a:sym typeface="Calibri"/>
            </a:endParaRPr>
          </a:p>
        </p:txBody>
      </p:sp>
      <p:sp>
        <p:nvSpPr>
          <p:cNvPr id="270" name="Google Shape;270;p8"/>
          <p:cNvSpPr/>
          <p:nvPr/>
        </p:nvSpPr>
        <p:spPr>
          <a:xfrm>
            <a:off x="548640" y="5212080"/>
            <a:ext cx="3566160" cy="960120"/>
          </a:xfrm>
          <a:prstGeom prst="roundRect">
            <a:avLst>
              <a:gd fmla="val 1142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685800" y="5349240"/>
            <a:ext cx="411480" cy="4114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erturbations" id="272" name="Google Shape;272;p8"/>
          <p:cNvPicPr preferRelativeResize="0"/>
          <p:nvPr/>
        </p:nvPicPr>
        <p:blipFill rotWithShape="1">
          <a:blip r:embed="rId5">
            <a:alphaModFix/>
          </a:blip>
          <a:srcRect b="0" l="0" r="0" t="0"/>
          <a:stretch/>
        </p:blipFill>
        <p:spPr>
          <a:xfrm>
            <a:off x="796900" y="5460340"/>
            <a:ext cx="189281" cy="189281"/>
          </a:xfrm>
          <a:prstGeom prst="rect">
            <a:avLst/>
          </a:prstGeom>
          <a:noFill/>
          <a:ln>
            <a:noFill/>
          </a:ln>
        </p:spPr>
      </p:pic>
      <p:sp>
        <p:nvSpPr>
          <p:cNvPr id="273" name="Google Shape;273;p8"/>
          <p:cNvSpPr txBox="1"/>
          <p:nvPr/>
        </p:nvSpPr>
        <p:spPr>
          <a:xfrm>
            <a:off x="1207008" y="5266944"/>
            <a:ext cx="2852928" cy="8778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Perturbations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noisy logs 100% · missing metrics 95% · renamed services 100% · timestamp jitter 100% recovered</a:t>
            </a:r>
            <a:endParaRPr b="0" i="0" sz="1200" u="none" cap="none" strike="noStrike">
              <a:solidFill>
                <a:schemeClr val="dk1"/>
              </a:solidFill>
              <a:latin typeface="Calibri"/>
              <a:ea typeface="Calibri"/>
              <a:cs typeface="Calibri"/>
              <a:sym typeface="Calibri"/>
            </a:endParaRPr>
          </a:p>
        </p:txBody>
      </p:sp>
      <p:sp>
        <p:nvSpPr>
          <p:cNvPr id="274" name="Google Shape;274;p8"/>
          <p:cNvSpPr/>
          <p:nvPr/>
        </p:nvSpPr>
        <p:spPr>
          <a:xfrm>
            <a:off x="4297680" y="5212080"/>
            <a:ext cx="3566160" cy="960120"/>
          </a:xfrm>
          <a:prstGeom prst="roundRect">
            <a:avLst>
              <a:gd fmla="val 1142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a:off x="4434840" y="5349240"/>
            <a:ext cx="411480" cy="4114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nest evaluation" id="276" name="Google Shape;276;p8"/>
          <p:cNvPicPr preferRelativeResize="0"/>
          <p:nvPr/>
        </p:nvPicPr>
        <p:blipFill rotWithShape="1">
          <a:blip r:embed="rId6">
            <a:alphaModFix/>
          </a:blip>
          <a:srcRect b="0" l="0" r="0" t="0"/>
          <a:stretch/>
        </p:blipFill>
        <p:spPr>
          <a:xfrm>
            <a:off x="4545940" y="5460340"/>
            <a:ext cx="189281" cy="189281"/>
          </a:xfrm>
          <a:prstGeom prst="rect">
            <a:avLst/>
          </a:prstGeom>
          <a:noFill/>
          <a:ln>
            <a:noFill/>
          </a:ln>
        </p:spPr>
      </p:pic>
      <p:sp>
        <p:nvSpPr>
          <p:cNvPr id="277" name="Google Shape;277;p8"/>
          <p:cNvSpPr txBox="1"/>
          <p:nvPr/>
        </p:nvSpPr>
        <p:spPr>
          <a:xfrm>
            <a:off x="4956048" y="5266944"/>
            <a:ext cx="2852928" cy="8778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Honest evaluation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Frozen before held-out; mid-project scorer audit; do-nothing and random floors recover 0%</a:t>
            </a:r>
            <a:endParaRPr b="0" i="0" sz="1200" u="none" cap="none" strike="noStrike">
              <a:solidFill>
                <a:schemeClr val="dk1"/>
              </a:solidFill>
              <a:latin typeface="Calibri"/>
              <a:ea typeface="Calibri"/>
              <a:cs typeface="Calibri"/>
              <a:sym typeface="Calibri"/>
            </a:endParaRPr>
          </a:p>
        </p:txBody>
      </p:sp>
      <p:sp>
        <p:nvSpPr>
          <p:cNvPr id="278" name="Google Shape;278;p8"/>
          <p:cNvSpPr/>
          <p:nvPr/>
        </p:nvSpPr>
        <p:spPr>
          <a:xfrm>
            <a:off x="8046720" y="5212080"/>
            <a:ext cx="3566160" cy="960120"/>
          </a:xfrm>
          <a:prstGeom prst="roundRect">
            <a:avLst>
              <a:gd fmla="val 1142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8183880" y="5349240"/>
            <a:ext cx="411480" cy="4114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eproducible" id="280" name="Google Shape;280;p8"/>
          <p:cNvPicPr preferRelativeResize="0"/>
          <p:nvPr/>
        </p:nvPicPr>
        <p:blipFill rotWithShape="1">
          <a:blip r:embed="rId7">
            <a:alphaModFix/>
          </a:blip>
          <a:srcRect b="0" l="0" r="0" t="0"/>
          <a:stretch/>
        </p:blipFill>
        <p:spPr>
          <a:xfrm>
            <a:off x="8294980" y="5460340"/>
            <a:ext cx="189281" cy="189281"/>
          </a:xfrm>
          <a:prstGeom prst="rect">
            <a:avLst/>
          </a:prstGeom>
          <a:noFill/>
          <a:ln>
            <a:noFill/>
          </a:ln>
        </p:spPr>
      </p:pic>
      <p:sp>
        <p:nvSpPr>
          <p:cNvPr id="281" name="Google Shape;281;p8"/>
          <p:cNvSpPr txBox="1"/>
          <p:nvPr/>
        </p:nvSpPr>
        <p:spPr>
          <a:xfrm>
            <a:off x="8705088" y="5266944"/>
            <a:ext cx="2852928" cy="8778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Reproducible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CI replays all 508 committed held-out and perturbation runs; any difference fails</a:t>
            </a:r>
            <a:endParaRPr b="0" i="0" sz="1200" u="none" cap="none" strike="noStrike">
              <a:solidFill>
                <a:schemeClr val="dk1"/>
              </a:solidFill>
              <a:latin typeface="Calibri"/>
              <a:ea typeface="Calibri"/>
              <a:cs typeface="Calibri"/>
              <a:sym typeface="Calibri"/>
            </a:endParaRPr>
          </a:p>
        </p:txBody>
      </p:sp>
      <p:sp>
        <p:nvSpPr>
          <p:cNvPr id="282" name="Google Shape;282;p8"/>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9"/>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latin typeface="Cambria"/>
                <a:ea typeface="Cambria"/>
                <a:cs typeface="Cambria"/>
                <a:sym typeface="Cambria"/>
              </a:rPr>
              <a:t>What makes it different</a:t>
            </a:r>
            <a:endParaRPr sz="3600"/>
          </a:p>
        </p:txBody>
      </p:sp>
      <p:sp>
        <p:nvSpPr>
          <p:cNvPr id="289" name="Google Shape;289;p9"/>
          <p:cNvSpPr/>
          <p:nvPr/>
        </p:nvSpPr>
        <p:spPr>
          <a:xfrm>
            <a:off x="548640" y="1325880"/>
            <a:ext cx="3429000" cy="2240280"/>
          </a:xfrm>
          <a:prstGeom prst="roundRect">
            <a:avLst>
              <a:gd fmla="val 489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777240" y="15544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curity-aware recovery" id="291" name="Google Shape;291;p9"/>
          <p:cNvPicPr preferRelativeResize="0"/>
          <p:nvPr/>
        </p:nvPicPr>
        <p:blipFill rotWithShape="1">
          <a:blip r:embed="rId3">
            <a:alphaModFix/>
          </a:blip>
          <a:srcRect b="0" l="0" r="0" t="0"/>
          <a:stretch/>
        </p:blipFill>
        <p:spPr>
          <a:xfrm>
            <a:off x="913028" y="1690268"/>
            <a:ext cx="231343" cy="231343"/>
          </a:xfrm>
          <a:prstGeom prst="rect">
            <a:avLst/>
          </a:prstGeom>
          <a:noFill/>
          <a:ln>
            <a:noFill/>
          </a:ln>
        </p:spPr>
      </p:pic>
      <p:sp>
        <p:nvSpPr>
          <p:cNvPr id="292" name="Google Shape;292;p9"/>
          <p:cNvSpPr txBox="1"/>
          <p:nvPr/>
        </p:nvSpPr>
        <p:spPr>
          <a:xfrm>
            <a:off x="777240" y="219456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Security-aware recovery</a:t>
            </a:r>
            <a:endParaRPr b="0" i="0" sz="1600" u="none" cap="none" strike="noStrike">
              <a:solidFill>
                <a:schemeClr val="dk1"/>
              </a:solidFill>
              <a:latin typeface="Calibri"/>
              <a:ea typeface="Calibri"/>
              <a:cs typeface="Calibri"/>
              <a:sym typeface="Calibri"/>
            </a:endParaRPr>
          </a:p>
        </p:txBody>
      </p:sp>
      <p:sp>
        <p:nvSpPr>
          <p:cNvPr id="293" name="Google Shape;293;p9"/>
          <p:cNvSpPr txBox="1"/>
          <p:nvPr/>
        </p:nvSpPr>
        <p:spPr>
          <a:xfrm>
            <a:off x="777240" y="2587752"/>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Finds C2 beacons hidden among normal traffic and contains a compromised host before restarting it.</a:t>
            </a:r>
            <a:endParaRPr b="0" i="0" sz="1300" u="none" cap="none" strike="noStrike">
              <a:solidFill>
                <a:schemeClr val="dk1"/>
              </a:solidFill>
              <a:latin typeface="Calibri"/>
              <a:ea typeface="Calibri"/>
              <a:cs typeface="Calibri"/>
              <a:sym typeface="Calibri"/>
            </a:endParaRPr>
          </a:p>
        </p:txBody>
      </p:sp>
      <p:sp>
        <p:nvSpPr>
          <p:cNvPr id="294" name="Google Shape;294;p9"/>
          <p:cNvSpPr/>
          <p:nvPr/>
        </p:nvSpPr>
        <p:spPr>
          <a:xfrm>
            <a:off x="4160520" y="1325880"/>
            <a:ext cx="3429000" cy="2240280"/>
          </a:xfrm>
          <a:prstGeom prst="roundRect">
            <a:avLst>
              <a:gd fmla="val 489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p:nvPr/>
        </p:nvSpPr>
        <p:spPr>
          <a:xfrm>
            <a:off x="4389120" y="15544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erified, not believed" id="296" name="Google Shape;296;p9"/>
          <p:cNvPicPr preferRelativeResize="0"/>
          <p:nvPr/>
        </p:nvPicPr>
        <p:blipFill rotWithShape="1">
          <a:blip r:embed="rId4">
            <a:alphaModFix/>
          </a:blip>
          <a:srcRect b="0" l="0" r="0" t="0"/>
          <a:stretch/>
        </p:blipFill>
        <p:spPr>
          <a:xfrm>
            <a:off x="4524908" y="1690268"/>
            <a:ext cx="231343" cy="231343"/>
          </a:xfrm>
          <a:prstGeom prst="rect">
            <a:avLst/>
          </a:prstGeom>
          <a:noFill/>
          <a:ln>
            <a:noFill/>
          </a:ln>
        </p:spPr>
      </p:pic>
      <p:sp>
        <p:nvSpPr>
          <p:cNvPr id="297" name="Google Shape;297;p9"/>
          <p:cNvSpPr txBox="1"/>
          <p:nvPr/>
        </p:nvSpPr>
        <p:spPr>
          <a:xfrm>
            <a:off x="4389120" y="219456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Verified, not believed</a:t>
            </a:r>
            <a:endParaRPr b="0" i="0" sz="1600" u="none" cap="none" strike="noStrike">
              <a:solidFill>
                <a:schemeClr val="dk1"/>
              </a:solidFill>
              <a:latin typeface="Calibri"/>
              <a:ea typeface="Calibri"/>
              <a:cs typeface="Calibri"/>
              <a:sym typeface="Calibri"/>
            </a:endParaRPr>
          </a:p>
        </p:txBody>
      </p:sp>
      <p:sp>
        <p:nvSpPr>
          <p:cNvPr id="298" name="Google Shape;298;p9"/>
          <p:cNvSpPr txBox="1"/>
          <p:nvPr/>
        </p:nvSpPr>
        <p:spPr>
          <a:xfrm>
            <a:off x="4389120" y="2587752"/>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Recovery is only reported when telemetry confirms it: 0% false claims vs 70% for a single-shot LLM.</a:t>
            </a:r>
            <a:endParaRPr b="0" i="0" sz="1300" u="none" cap="none" strike="noStrike">
              <a:solidFill>
                <a:schemeClr val="dk1"/>
              </a:solidFill>
              <a:latin typeface="Calibri"/>
              <a:ea typeface="Calibri"/>
              <a:cs typeface="Calibri"/>
              <a:sym typeface="Calibri"/>
            </a:endParaRPr>
          </a:p>
        </p:txBody>
      </p:sp>
      <p:sp>
        <p:nvSpPr>
          <p:cNvPr id="299" name="Google Shape;299;p9"/>
          <p:cNvSpPr/>
          <p:nvPr/>
        </p:nvSpPr>
        <p:spPr>
          <a:xfrm>
            <a:off x="548640" y="3749040"/>
            <a:ext cx="3429000" cy="2240280"/>
          </a:xfrm>
          <a:prstGeom prst="roundRect">
            <a:avLst>
              <a:gd fmla="val 489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777240" y="39776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overeign and efficient" id="301" name="Google Shape;301;p9"/>
          <p:cNvPicPr preferRelativeResize="0"/>
          <p:nvPr/>
        </p:nvPicPr>
        <p:blipFill rotWithShape="1">
          <a:blip r:embed="rId5">
            <a:alphaModFix/>
          </a:blip>
          <a:srcRect b="0" l="0" r="0" t="0"/>
          <a:stretch/>
        </p:blipFill>
        <p:spPr>
          <a:xfrm>
            <a:off x="913028" y="4113428"/>
            <a:ext cx="231343" cy="231343"/>
          </a:xfrm>
          <a:prstGeom prst="rect">
            <a:avLst/>
          </a:prstGeom>
          <a:noFill/>
          <a:ln>
            <a:noFill/>
          </a:ln>
        </p:spPr>
      </p:pic>
      <p:sp>
        <p:nvSpPr>
          <p:cNvPr id="302" name="Google Shape;302;p9"/>
          <p:cNvSpPr txBox="1"/>
          <p:nvPr/>
        </p:nvSpPr>
        <p:spPr>
          <a:xfrm>
            <a:off x="777240" y="461772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Sovereign and efficient</a:t>
            </a:r>
            <a:endParaRPr b="0" i="0" sz="1600" u="none" cap="none" strike="noStrike">
              <a:solidFill>
                <a:schemeClr val="dk1"/>
              </a:solidFill>
              <a:latin typeface="Calibri"/>
              <a:ea typeface="Calibri"/>
              <a:cs typeface="Calibri"/>
              <a:sym typeface="Calibri"/>
            </a:endParaRPr>
          </a:p>
        </p:txBody>
      </p:sp>
      <p:sp>
        <p:nvSpPr>
          <p:cNvPr id="303" name="Google Shape;303;p9"/>
          <p:cNvSpPr txBox="1"/>
          <p:nvPr/>
        </p:nvSpPr>
        <p:spPr>
          <a:xfrm>
            <a:off x="777240" y="5010912"/>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Runs on a laptop with a local 7B model: 6,103 tokens per incident vs 35,018 for an LLM reading raw telemetry.</a:t>
            </a:r>
            <a:endParaRPr b="0" i="0" sz="1300" u="none" cap="none" strike="noStrike">
              <a:solidFill>
                <a:schemeClr val="dk1"/>
              </a:solidFill>
              <a:latin typeface="Calibri"/>
              <a:ea typeface="Calibri"/>
              <a:cs typeface="Calibri"/>
              <a:sym typeface="Calibri"/>
            </a:endParaRPr>
          </a:p>
        </p:txBody>
      </p:sp>
      <p:sp>
        <p:nvSpPr>
          <p:cNvPr id="304" name="Google Shape;304;p9"/>
          <p:cNvSpPr/>
          <p:nvPr/>
        </p:nvSpPr>
        <p:spPr>
          <a:xfrm>
            <a:off x="4160520" y="3749040"/>
            <a:ext cx="3429000" cy="2240280"/>
          </a:xfrm>
          <a:prstGeom prst="roundRect">
            <a:avLst>
              <a:gd fmla="val 489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a:off x="4389120" y="39776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eproducible by design" id="306" name="Google Shape;306;p9"/>
          <p:cNvPicPr preferRelativeResize="0"/>
          <p:nvPr/>
        </p:nvPicPr>
        <p:blipFill rotWithShape="1">
          <a:blip r:embed="rId6">
            <a:alphaModFix/>
          </a:blip>
          <a:srcRect b="0" l="0" r="0" t="0"/>
          <a:stretch/>
        </p:blipFill>
        <p:spPr>
          <a:xfrm>
            <a:off x="4524908" y="4113428"/>
            <a:ext cx="231343" cy="231343"/>
          </a:xfrm>
          <a:prstGeom prst="rect">
            <a:avLst/>
          </a:prstGeom>
          <a:noFill/>
          <a:ln>
            <a:noFill/>
          </a:ln>
        </p:spPr>
      </p:pic>
      <p:sp>
        <p:nvSpPr>
          <p:cNvPr id="307" name="Google Shape;307;p9"/>
          <p:cNvSpPr txBox="1"/>
          <p:nvPr/>
        </p:nvSpPr>
        <p:spPr>
          <a:xfrm>
            <a:off x="4389120" y="461772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Reproducible by design</a:t>
            </a:r>
            <a:endParaRPr b="0" i="0" sz="1600" u="none" cap="none" strike="noStrike">
              <a:solidFill>
                <a:schemeClr val="dk1"/>
              </a:solidFill>
              <a:latin typeface="Calibri"/>
              <a:ea typeface="Calibri"/>
              <a:cs typeface="Calibri"/>
              <a:sym typeface="Calibri"/>
            </a:endParaRPr>
          </a:p>
        </p:txBody>
      </p:sp>
      <p:sp>
        <p:nvSpPr>
          <p:cNvPr id="308" name="Google Shape;308;p9"/>
          <p:cNvSpPr txBox="1"/>
          <p:nvPr/>
        </p:nvSpPr>
        <p:spPr>
          <a:xfrm>
            <a:off x="4389120" y="5010912"/>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Every number replays from a committed cache; CI re-checks all of them on every change.</a:t>
            </a:r>
            <a:endParaRPr b="0" i="0" sz="1300" u="none" cap="none" strike="noStrike">
              <a:solidFill>
                <a:schemeClr val="dk1"/>
              </a:solidFill>
              <a:latin typeface="Calibri"/>
              <a:ea typeface="Calibri"/>
              <a:cs typeface="Calibri"/>
              <a:sym typeface="Calibri"/>
            </a:endParaRPr>
          </a:p>
        </p:txBody>
      </p:sp>
      <p:sp>
        <p:nvSpPr>
          <p:cNvPr id="309" name="Google Shape;309;p9"/>
          <p:cNvSpPr/>
          <p:nvPr/>
        </p:nvSpPr>
        <p:spPr>
          <a:xfrm>
            <a:off x="7863840" y="1325880"/>
            <a:ext cx="3794760" cy="4663440"/>
          </a:xfrm>
          <a:prstGeom prst="roundRect">
            <a:avLst>
              <a:gd fmla="val 2892"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txBox="1"/>
          <p:nvPr/>
        </p:nvSpPr>
        <p:spPr>
          <a:xfrm>
            <a:off x="8138160" y="1554480"/>
            <a:ext cx="32918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000"/>
              <a:buFont typeface="Cambria"/>
              <a:buNone/>
            </a:pPr>
            <a:r>
              <a:rPr b="1" i="0" lang="en-US" sz="2000" u="none" cap="none" strike="noStrike">
                <a:solidFill>
                  <a:schemeClr val="lt1"/>
                </a:solidFill>
                <a:latin typeface="Cambria"/>
                <a:ea typeface="Cambria"/>
                <a:cs typeface="Cambria"/>
                <a:sym typeface="Cambria"/>
              </a:rPr>
              <a:t>Potential impact</a:t>
            </a:r>
            <a:endParaRPr b="0" i="0" sz="2000" u="none" cap="none" strike="noStrike">
              <a:solidFill>
                <a:schemeClr val="dk1"/>
              </a:solidFill>
              <a:latin typeface="Calibri"/>
              <a:ea typeface="Calibri"/>
              <a:cs typeface="Calibri"/>
              <a:sym typeface="Calibri"/>
            </a:endParaRPr>
          </a:p>
        </p:txBody>
      </p:sp>
      <p:sp>
        <p:nvSpPr>
          <p:cNvPr id="311" name="Google Shape;311;p9"/>
          <p:cNvSpPr txBox="1"/>
          <p:nvPr/>
        </p:nvSpPr>
        <p:spPr>
          <a:xfrm>
            <a:off x="8138160" y="2103120"/>
            <a:ext cx="3291840" cy="2926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Local</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Sovereign AI operations for Saudi enterprises and government: no logs leave the organization, and it fits on-premises and national AI infrastructure.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800"/>
              <a:buFont typeface="Calibri"/>
              <a:buNone/>
            </a:pPr>
            <a:r>
              <a:rPr b="0" i="0" lang="en-US" sz="800" u="none" cap="none" strike="noStrike">
                <a:solidFill>
                  <a:schemeClr val="dk1"/>
                </a:solidFill>
                <a:latin typeface="Calibri"/>
                <a:ea typeface="Calibri"/>
                <a:cs typeface="Calibri"/>
                <a:sym typeface="Calibri"/>
              </a:rPr>
              <a:t> </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Global</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An open benchmark for concurrent, security-aware recovery that measures false claims, harm and cost, not just success.</a:t>
            </a:r>
            <a:endParaRPr b="0" i="0" sz="1500" u="none" cap="none" strike="noStrike">
              <a:solidFill>
                <a:schemeClr val="dk1"/>
              </a:solidFill>
              <a:latin typeface="Calibri"/>
              <a:ea typeface="Calibri"/>
              <a:cs typeface="Calibri"/>
              <a:sym typeface="Calibri"/>
            </a:endParaRPr>
          </a:p>
        </p:txBody>
      </p:sp>
      <p:sp>
        <p:nvSpPr>
          <p:cNvPr id="312" name="Google Shape;312;p9"/>
          <p:cNvSpPr/>
          <p:nvPr/>
        </p:nvSpPr>
        <p:spPr>
          <a:xfrm>
            <a:off x="8092440" y="5074920"/>
            <a:ext cx="3337560" cy="731520"/>
          </a:xfrm>
          <a:prstGeom prst="roundRect">
            <a:avLst>
              <a:gd fmla="val 1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txBox="1"/>
          <p:nvPr/>
        </p:nvSpPr>
        <p:spPr>
          <a:xfrm>
            <a:off x="8183880" y="5120640"/>
            <a:ext cx="31546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1 laptop  ·  0 cloud calls  ·  6.1k tokens/incident</a:t>
            </a:r>
            <a:endParaRPr b="0" i="0" sz="1300" u="none" cap="none" strike="noStrike">
              <a:solidFill>
                <a:schemeClr val="dk1"/>
              </a:solidFill>
              <a:latin typeface="Calibri"/>
              <a:ea typeface="Calibri"/>
              <a:cs typeface="Calibri"/>
              <a:sym typeface="Calibri"/>
            </a:endParaRPr>
          </a:p>
        </p:txBody>
      </p:sp>
      <p:sp>
        <p:nvSpPr>
          <p:cNvPr id="314" name="Google Shape;314;p9"/>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0"/>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latin typeface="Cambria"/>
                <a:ea typeface="Cambria"/>
                <a:cs typeface="Cambria"/>
                <a:sym typeface="Cambria"/>
              </a:rPr>
              <a:t>Challenges, limits and what’s next</a:t>
            </a:r>
            <a:endParaRPr sz="3600"/>
          </a:p>
        </p:txBody>
      </p:sp>
      <p:sp>
        <p:nvSpPr>
          <p:cNvPr id="321" name="Google Shape;321;p10"/>
          <p:cNvSpPr/>
          <p:nvPr/>
        </p:nvSpPr>
        <p:spPr>
          <a:xfrm>
            <a:off x="548640" y="1325880"/>
            <a:ext cx="3566160" cy="4754880"/>
          </a:xfrm>
          <a:prstGeom prst="roundRect">
            <a:avLst>
              <a:gd fmla="val 307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p:nvPr/>
        </p:nvSpPr>
        <p:spPr>
          <a:xfrm>
            <a:off x="822960" y="15544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llenges solved" id="323" name="Google Shape;323;p10"/>
          <p:cNvPicPr preferRelativeResize="0"/>
          <p:nvPr/>
        </p:nvPicPr>
        <p:blipFill rotWithShape="1">
          <a:blip r:embed="rId3">
            <a:alphaModFix/>
          </a:blip>
          <a:srcRect b="0" l="0" r="0" t="0"/>
          <a:stretch/>
        </p:blipFill>
        <p:spPr>
          <a:xfrm>
            <a:off x="958748" y="1690268"/>
            <a:ext cx="231343" cy="231343"/>
          </a:xfrm>
          <a:prstGeom prst="rect">
            <a:avLst/>
          </a:prstGeom>
          <a:noFill/>
          <a:ln>
            <a:noFill/>
          </a:ln>
        </p:spPr>
      </p:pic>
      <p:sp>
        <p:nvSpPr>
          <p:cNvPr id="324" name="Google Shape;324;p10"/>
          <p:cNvSpPr txBox="1"/>
          <p:nvPr/>
        </p:nvSpPr>
        <p:spPr>
          <a:xfrm>
            <a:off x="1463040" y="1627632"/>
            <a:ext cx="2560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Challenges solved</a:t>
            </a:r>
            <a:endParaRPr b="0" i="0" sz="1800" u="none" cap="none" strike="noStrike">
              <a:solidFill>
                <a:schemeClr val="dk1"/>
              </a:solidFill>
              <a:latin typeface="Calibri"/>
              <a:ea typeface="Calibri"/>
              <a:cs typeface="Calibri"/>
              <a:sym typeface="Calibri"/>
            </a:endParaRPr>
          </a:p>
        </p:txBody>
      </p:sp>
      <p:sp>
        <p:nvSpPr>
          <p:cNvPr id="325" name="Google Shape;325;p10"/>
          <p:cNvSpPr txBox="1"/>
          <p:nvPr/>
        </p:nvSpPr>
        <p:spPr>
          <a:xfrm>
            <a:off x="822960" y="2377440"/>
            <a:ext cx="3063240" cy="35661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A 7B model mixed up services → per-service evidence and a repeated-plan guard</a:t>
            </a:r>
            <a:endParaRPr b="0" i="0" sz="1600" u="none" cap="none" strike="noStrike">
              <a:solidFill>
                <a:schemeClr val="dk1"/>
              </a:solidFill>
              <a:latin typeface="Calibri"/>
              <a:ea typeface="Calibri"/>
              <a:cs typeface="Calibri"/>
              <a:sym typeface="Calibri"/>
            </a:endParaRPr>
          </a:p>
          <a:p>
            <a:pPr indent="-342900" lvl="0" marL="342900" marR="0" rtl="0" algn="l">
              <a:spcBef>
                <a:spcPts val="20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The recovery metric was too lenient → mid-project scorer audit with sanity baselines</a:t>
            </a:r>
            <a:endParaRPr b="0" i="0" sz="1600" u="none" cap="none" strike="noStrike">
              <a:solidFill>
                <a:schemeClr val="dk1"/>
              </a:solidFill>
              <a:latin typeface="Calibri"/>
              <a:ea typeface="Calibri"/>
              <a:cs typeface="Calibri"/>
              <a:sym typeface="Calibri"/>
            </a:endParaRPr>
          </a:p>
          <a:p>
            <a:pPr indent="-342900" lvl="0" marL="342900" marR="0" rtl="0" algn="l">
              <a:spcBef>
                <a:spcPts val="20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One test split did not replay → stable hashing and a CI replay check</a:t>
            </a:r>
            <a:endParaRPr b="0" i="0" sz="1600" u="none" cap="none" strike="noStrike">
              <a:solidFill>
                <a:schemeClr val="dk1"/>
              </a:solidFill>
              <a:latin typeface="Calibri"/>
              <a:ea typeface="Calibri"/>
              <a:cs typeface="Calibri"/>
              <a:sym typeface="Calibri"/>
            </a:endParaRPr>
          </a:p>
        </p:txBody>
      </p:sp>
      <p:sp>
        <p:nvSpPr>
          <p:cNvPr id="326" name="Google Shape;326;p10"/>
          <p:cNvSpPr/>
          <p:nvPr/>
        </p:nvSpPr>
        <p:spPr>
          <a:xfrm>
            <a:off x="4297680" y="1325880"/>
            <a:ext cx="3566160" cy="4754880"/>
          </a:xfrm>
          <a:prstGeom prst="roundRect">
            <a:avLst>
              <a:gd fmla="val 307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p:nvPr/>
        </p:nvSpPr>
        <p:spPr>
          <a:xfrm>
            <a:off x="4572000" y="1554480"/>
            <a:ext cx="502920" cy="50292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nest limitations" id="328" name="Google Shape;328;p10"/>
          <p:cNvPicPr preferRelativeResize="0"/>
          <p:nvPr/>
        </p:nvPicPr>
        <p:blipFill rotWithShape="1">
          <a:blip r:embed="rId4">
            <a:alphaModFix/>
          </a:blip>
          <a:srcRect b="0" l="0" r="0" t="0"/>
          <a:stretch/>
        </p:blipFill>
        <p:spPr>
          <a:xfrm>
            <a:off x="4707788" y="1690268"/>
            <a:ext cx="231343" cy="231343"/>
          </a:xfrm>
          <a:prstGeom prst="rect">
            <a:avLst/>
          </a:prstGeom>
          <a:noFill/>
          <a:ln>
            <a:noFill/>
          </a:ln>
        </p:spPr>
      </p:pic>
      <p:sp>
        <p:nvSpPr>
          <p:cNvPr id="329" name="Google Shape;329;p10"/>
          <p:cNvSpPr txBox="1"/>
          <p:nvPr/>
        </p:nvSpPr>
        <p:spPr>
          <a:xfrm>
            <a:off x="5212080" y="1627632"/>
            <a:ext cx="2560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Honest limitations</a:t>
            </a:r>
            <a:endParaRPr b="0" i="0" sz="1800" u="none" cap="none" strike="noStrike">
              <a:solidFill>
                <a:schemeClr val="dk1"/>
              </a:solidFill>
              <a:latin typeface="Calibri"/>
              <a:ea typeface="Calibri"/>
              <a:cs typeface="Calibri"/>
              <a:sym typeface="Calibri"/>
            </a:endParaRPr>
          </a:p>
        </p:txBody>
      </p:sp>
      <p:sp>
        <p:nvSpPr>
          <p:cNvPr id="330" name="Google Shape;330;p10"/>
          <p:cNvSpPr txBox="1"/>
          <p:nvPr/>
        </p:nvSpPr>
        <p:spPr>
          <a:xfrm>
            <a:off x="4572000" y="2377440"/>
            <a:ext cx="3063240" cy="35661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Small, hand-written simulator; the prompt knows each fault’s fix, as a runbook does</a:t>
            </a:r>
            <a:endParaRPr b="0" i="0" sz="1600" u="none" cap="none" strike="noStrike">
              <a:solidFill>
                <a:schemeClr val="dk1"/>
              </a:solidFill>
              <a:latin typeface="Calibri"/>
              <a:ea typeface="Calibri"/>
              <a:cs typeface="Calibri"/>
              <a:sym typeface="Calibri"/>
            </a:endParaRPr>
          </a:p>
          <a:p>
            <a:pPr indent="-342900" lvl="0" marL="342900" marR="0" rtl="0" algn="l">
              <a:spcBef>
                <a:spcPts val="20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An unseen fault type is recovered and localized, but not named</a:t>
            </a:r>
            <a:endParaRPr b="0" i="0" sz="1600" u="none" cap="none" strike="noStrike">
              <a:solidFill>
                <a:schemeClr val="dk1"/>
              </a:solidFill>
              <a:latin typeface="Calibri"/>
              <a:ea typeface="Calibri"/>
              <a:cs typeface="Calibri"/>
              <a:sym typeface="Calibri"/>
            </a:endParaRPr>
          </a:p>
          <a:p>
            <a:pPr indent="-342900" lvl="0" marL="342900" marR="0" rtl="0" algn="l">
              <a:spcBef>
                <a:spcPts val="20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Beacon model trained on synthetic data; secondary tests use one seed</a:t>
            </a:r>
            <a:endParaRPr b="0" i="0" sz="1600" u="none" cap="none" strike="noStrike">
              <a:solidFill>
                <a:schemeClr val="dk1"/>
              </a:solidFill>
              <a:latin typeface="Calibri"/>
              <a:ea typeface="Calibri"/>
              <a:cs typeface="Calibri"/>
              <a:sym typeface="Calibri"/>
            </a:endParaRPr>
          </a:p>
        </p:txBody>
      </p:sp>
      <p:sp>
        <p:nvSpPr>
          <p:cNvPr id="331" name="Google Shape;331;p10"/>
          <p:cNvSpPr/>
          <p:nvPr/>
        </p:nvSpPr>
        <p:spPr>
          <a:xfrm>
            <a:off x="8046720" y="1325880"/>
            <a:ext cx="3566160" cy="4754880"/>
          </a:xfrm>
          <a:prstGeom prst="roundRect">
            <a:avLst>
              <a:gd fmla="val 307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0"/>
          <p:cNvSpPr/>
          <p:nvPr/>
        </p:nvSpPr>
        <p:spPr>
          <a:xfrm>
            <a:off x="8321040" y="15544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Next steps" id="333" name="Google Shape;333;p10"/>
          <p:cNvPicPr preferRelativeResize="0"/>
          <p:nvPr/>
        </p:nvPicPr>
        <p:blipFill rotWithShape="1">
          <a:blip r:embed="rId5">
            <a:alphaModFix/>
          </a:blip>
          <a:srcRect b="0" l="0" r="0" t="0"/>
          <a:stretch/>
        </p:blipFill>
        <p:spPr>
          <a:xfrm>
            <a:off x="8456828" y="1690268"/>
            <a:ext cx="231343" cy="231343"/>
          </a:xfrm>
          <a:prstGeom prst="rect">
            <a:avLst/>
          </a:prstGeom>
          <a:noFill/>
          <a:ln>
            <a:noFill/>
          </a:ln>
        </p:spPr>
      </p:pic>
      <p:sp>
        <p:nvSpPr>
          <p:cNvPr id="334" name="Google Shape;334;p10"/>
          <p:cNvSpPr txBox="1"/>
          <p:nvPr/>
        </p:nvSpPr>
        <p:spPr>
          <a:xfrm>
            <a:off x="8961120" y="1627632"/>
            <a:ext cx="2560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mbria"/>
              <a:buNone/>
            </a:pPr>
            <a:r>
              <a:rPr b="1" i="0" lang="en-US" sz="1800" u="none" cap="none" strike="noStrike">
                <a:solidFill>
                  <a:schemeClr val="lt1"/>
                </a:solidFill>
                <a:latin typeface="Cambria"/>
                <a:ea typeface="Cambria"/>
                <a:cs typeface="Cambria"/>
                <a:sym typeface="Cambria"/>
              </a:rPr>
              <a:t>Next steps</a:t>
            </a:r>
            <a:endParaRPr b="0" i="0" sz="1800" u="none" cap="none" strike="noStrike">
              <a:solidFill>
                <a:schemeClr val="dk1"/>
              </a:solidFill>
              <a:latin typeface="Calibri"/>
              <a:ea typeface="Calibri"/>
              <a:cs typeface="Calibri"/>
              <a:sym typeface="Calibri"/>
            </a:endParaRPr>
          </a:p>
        </p:txBody>
      </p:sp>
      <p:sp>
        <p:nvSpPr>
          <p:cNvPr id="335" name="Google Shape;335;p10"/>
          <p:cNvSpPr txBox="1"/>
          <p:nvPr/>
        </p:nvSpPr>
        <p:spPr>
          <a:xfrm>
            <a:off x="8321040" y="2377440"/>
            <a:ext cx="3063240" cy="35661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lt1"/>
              </a:buClr>
              <a:buSzPts val="1600"/>
              <a:buFont typeface="Calibri"/>
              <a:buChar char="•"/>
            </a:pPr>
            <a:r>
              <a:rPr b="0" i="0" lang="en-US" sz="1600" u="none" cap="none" strike="noStrike">
                <a:solidFill>
                  <a:schemeClr val="lt1"/>
                </a:solidFill>
                <a:latin typeface="Calibri"/>
                <a:ea typeface="Calibri"/>
                <a:cs typeface="Calibri"/>
                <a:sym typeface="Calibri"/>
              </a:rPr>
              <a:t>Real telemetry: Prometheus metrics, Zeek/NetFlow, log stores</a:t>
            </a:r>
            <a:endParaRPr b="0" i="0" sz="1600" u="none" cap="none" strike="noStrike">
              <a:solidFill>
                <a:schemeClr val="dk1"/>
              </a:solidFill>
              <a:latin typeface="Calibri"/>
              <a:ea typeface="Calibri"/>
              <a:cs typeface="Calibri"/>
              <a:sym typeface="Calibri"/>
            </a:endParaRPr>
          </a:p>
          <a:p>
            <a:pPr indent="-342900" lvl="0" marL="342900" marR="0" rtl="0" algn="l">
              <a:spcBef>
                <a:spcPts val="2000"/>
              </a:spcBef>
              <a:spcAft>
                <a:spcPts val="0"/>
              </a:spcAft>
              <a:buClr>
                <a:schemeClr val="lt1"/>
              </a:buClr>
              <a:buSzPts val="1600"/>
              <a:buFont typeface="Calibri"/>
              <a:buChar char="•"/>
            </a:pPr>
            <a:r>
              <a:rPr b="0" i="0" lang="en-US" sz="1600" u="none" cap="none" strike="noStrike">
                <a:solidFill>
                  <a:schemeClr val="lt1"/>
                </a:solidFill>
                <a:latin typeface="Calibri"/>
                <a:ea typeface="Calibri"/>
                <a:cs typeface="Calibri"/>
                <a:sym typeface="Calibri"/>
              </a:rPr>
              <a:t>Retrain the beacon detector on real captures</a:t>
            </a:r>
            <a:endParaRPr b="0" i="0" sz="1600" u="none" cap="none" strike="noStrike">
              <a:solidFill>
                <a:schemeClr val="dk1"/>
              </a:solidFill>
              <a:latin typeface="Calibri"/>
              <a:ea typeface="Calibri"/>
              <a:cs typeface="Calibri"/>
              <a:sym typeface="Calibri"/>
            </a:endParaRPr>
          </a:p>
          <a:p>
            <a:pPr indent="-342900" lvl="0" marL="342900" marR="0" rtl="0" algn="l">
              <a:spcBef>
                <a:spcPts val="2000"/>
              </a:spcBef>
              <a:spcAft>
                <a:spcPts val="0"/>
              </a:spcAft>
              <a:buClr>
                <a:schemeClr val="lt1"/>
              </a:buClr>
              <a:buSzPts val="1600"/>
              <a:buFont typeface="Calibri"/>
              <a:buChar char="•"/>
            </a:pPr>
            <a:r>
              <a:rPr b="0" i="0" lang="en-US" sz="1600" u="none" cap="none" strike="noStrike">
                <a:solidFill>
                  <a:schemeClr val="lt1"/>
                </a:solidFill>
                <a:latin typeface="Calibri"/>
                <a:ea typeface="Calibri"/>
                <a:cs typeface="Calibri"/>
                <a:sym typeface="Calibri"/>
              </a:rPr>
              <a:t>Human approval for irreversible actions; evaluate sovereign models such as ALLaM</a:t>
            </a:r>
            <a:endParaRPr b="0" i="0" sz="1600" u="none" cap="none" strike="noStrike">
              <a:solidFill>
                <a:schemeClr val="dk1"/>
              </a:solidFill>
              <a:latin typeface="Calibri"/>
              <a:ea typeface="Calibri"/>
              <a:cs typeface="Calibri"/>
              <a:sym typeface="Calibri"/>
            </a:endParaRPr>
          </a:p>
        </p:txBody>
      </p:sp>
      <p:sp>
        <p:nvSpPr>
          <p:cNvPr id="336" name="Google Shape;336;p10"/>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1"/>
          <p:cNvSpPr txBox="1"/>
          <p:nvPr>
            <p:ph type="title"/>
          </p:nvPr>
        </p:nvSpPr>
        <p:spPr>
          <a:xfrm>
            <a:off x="548640" y="320040"/>
            <a:ext cx="1005840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600"/>
              <a:buFont typeface="Cambria"/>
              <a:buNone/>
            </a:pPr>
            <a:r>
              <a:rPr b="1" lang="en-US" sz="3600">
                <a:solidFill>
                  <a:schemeClr val="lt1"/>
                </a:solidFill>
                <a:latin typeface="Cambria"/>
                <a:ea typeface="Cambria"/>
                <a:cs typeface="Cambria"/>
                <a:sym typeface="Cambria"/>
              </a:rPr>
              <a:t>Conclusion &amp; demo</a:t>
            </a:r>
            <a:endParaRPr sz="3600"/>
          </a:p>
        </p:txBody>
      </p:sp>
      <p:sp>
        <p:nvSpPr>
          <p:cNvPr id="343" name="Google Shape;343;p11"/>
          <p:cNvSpPr/>
          <p:nvPr/>
        </p:nvSpPr>
        <p:spPr>
          <a:xfrm>
            <a:off x="548640" y="1389888"/>
            <a:ext cx="201168" cy="20116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1"/>
          <p:cNvSpPr txBox="1"/>
          <p:nvPr/>
        </p:nvSpPr>
        <p:spPr>
          <a:xfrm>
            <a:off x="914400" y="1325880"/>
            <a:ext cx="69494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Identifies, diagnoses, recovers and verifies, even with three concurrent faults and a hidden attack</a:t>
            </a:r>
            <a:endParaRPr b="0" i="0" sz="1600" u="none" cap="none" strike="noStrike">
              <a:solidFill>
                <a:schemeClr val="dk1"/>
              </a:solidFill>
              <a:latin typeface="Calibri"/>
              <a:ea typeface="Calibri"/>
              <a:cs typeface="Calibri"/>
              <a:sym typeface="Calibri"/>
            </a:endParaRPr>
          </a:p>
        </p:txBody>
      </p:sp>
      <p:sp>
        <p:nvSpPr>
          <p:cNvPr id="345" name="Google Shape;345;p11"/>
          <p:cNvSpPr/>
          <p:nvPr/>
        </p:nvSpPr>
        <p:spPr>
          <a:xfrm>
            <a:off x="548640" y="2048256"/>
            <a:ext cx="201168" cy="20116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txBox="1"/>
          <p:nvPr/>
        </p:nvSpPr>
        <p:spPr>
          <a:xfrm>
            <a:off x="914400" y="1984248"/>
            <a:ext cx="69494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On unseen incidents: 100% recovered, 0% false claims, 0 harmful actions</a:t>
            </a:r>
            <a:endParaRPr b="0" i="0" sz="1600" u="none" cap="none" strike="noStrike">
              <a:solidFill>
                <a:schemeClr val="dk1"/>
              </a:solidFill>
              <a:latin typeface="Calibri"/>
              <a:ea typeface="Calibri"/>
              <a:cs typeface="Calibri"/>
              <a:sym typeface="Calibri"/>
            </a:endParaRPr>
          </a:p>
        </p:txBody>
      </p:sp>
      <p:sp>
        <p:nvSpPr>
          <p:cNvPr id="347" name="Google Shape;347;p11"/>
          <p:cNvSpPr/>
          <p:nvPr/>
        </p:nvSpPr>
        <p:spPr>
          <a:xfrm>
            <a:off x="548640" y="2706624"/>
            <a:ext cx="201168" cy="20116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txBox="1"/>
          <p:nvPr/>
        </p:nvSpPr>
        <p:spPr>
          <a:xfrm>
            <a:off x="914400" y="2642616"/>
            <a:ext cx="69494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Fully local and fully reproducible: one command replays every number</a:t>
            </a:r>
            <a:endParaRPr b="0" i="0" sz="1600" u="none" cap="none" strike="noStrike">
              <a:solidFill>
                <a:schemeClr val="dk1"/>
              </a:solidFill>
              <a:latin typeface="Calibri"/>
              <a:ea typeface="Calibri"/>
              <a:cs typeface="Calibri"/>
              <a:sym typeface="Calibri"/>
            </a:endParaRPr>
          </a:p>
        </p:txBody>
      </p:sp>
      <p:sp>
        <p:nvSpPr>
          <p:cNvPr id="349" name="Google Shape;349;p11"/>
          <p:cNvSpPr txBox="1"/>
          <p:nvPr/>
        </p:nvSpPr>
        <p:spPr>
          <a:xfrm>
            <a:off x="548640" y="3429000"/>
            <a:ext cx="749808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Live site, results and incident replay:  </a:t>
            </a:r>
            <a:r>
              <a:rPr b="0" i="0" lang="en-US" sz="1400" u="sng" cap="none" strike="noStrike">
                <a:solidFill>
                  <a:schemeClr val="accent3"/>
                </a:solidFill>
                <a:latin typeface="Calibri"/>
                <a:ea typeface="Calibri"/>
                <a:cs typeface="Calibri"/>
                <a:sym typeface="Calibri"/>
                <a:hlinkClick r:id="rId3">
                  <a:extLst>
                    <a:ext uri="{A12FA001-AC4F-418D-AE19-62706E023703}">
                      <ahyp:hlinkClr val="tx"/>
                    </a:ext>
                  </a:extLst>
                </a:hlinkClick>
              </a:rPr>
              <a:t>abdulalharbi.github.io/sentinel-rx</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Source code:  </a:t>
            </a:r>
            <a:r>
              <a:rPr b="0" i="0" lang="en-US" sz="1400" u="sng" cap="none" strike="noStrike">
                <a:solidFill>
                  <a:schemeClr val="accent3"/>
                </a:solidFill>
                <a:latin typeface="Calibri"/>
                <a:ea typeface="Calibri"/>
                <a:cs typeface="Calibri"/>
                <a:sym typeface="Calibri"/>
                <a:hlinkClick r:id="rId4">
                  <a:extLst>
                    <a:ext uri="{A12FA001-AC4F-418D-AE19-62706E023703}">
                      <ahyp:hlinkClr val="tx"/>
                    </a:ext>
                  </a:extLst>
                </a:hlinkClick>
              </a:rPr>
              <a:t>github.com/AbdulAlharbi/sentinel-rx</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Technical brief (6 pages) [3]:  </a:t>
            </a:r>
            <a:r>
              <a:rPr b="0" i="0" lang="en-US" sz="1400" u="sng" cap="none" strike="noStrike">
                <a:solidFill>
                  <a:schemeClr val="accent3"/>
                </a:solidFill>
                <a:latin typeface="Calibri"/>
                <a:ea typeface="Calibri"/>
                <a:cs typeface="Calibri"/>
                <a:sym typeface="Calibri"/>
                <a:hlinkClick r:id="rId5">
                  <a:extLst>
                    <a:ext uri="{A12FA001-AC4F-418D-AE19-62706E023703}">
                      <ahyp:hlinkClr val="tx"/>
                    </a:ext>
                  </a:extLst>
                </a:hlinkClick>
              </a:rPr>
              <a:t>sentinel_rx_brief.pdf</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Full technical report (27 pages) [3]:  </a:t>
            </a:r>
            <a:r>
              <a:rPr b="0" i="0" lang="en-US" sz="1400" u="sng" cap="none" strike="noStrike">
                <a:solidFill>
                  <a:schemeClr val="accent3"/>
                </a:solidFill>
                <a:latin typeface="Calibri"/>
                <a:ea typeface="Calibri"/>
                <a:cs typeface="Calibri"/>
                <a:sym typeface="Calibri"/>
                <a:hlinkClick r:id="rId6">
                  <a:extLst>
                    <a:ext uri="{A12FA001-AC4F-418D-AE19-62706E023703}">
                      <ahyp:hlinkClr val="tx"/>
                    </a:ext>
                  </a:extLst>
                </a:hlinkClick>
              </a:rPr>
              <a:t>sentinel_rx_technical_report.pdf</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Literature review [1]:  </a:t>
            </a:r>
            <a:r>
              <a:rPr b="0" i="0" lang="en-US" sz="1400" u="sng" cap="none" strike="noStrike">
                <a:solidFill>
                  <a:schemeClr val="accent3"/>
                </a:solidFill>
                <a:latin typeface="Calibri"/>
                <a:ea typeface="Calibri"/>
                <a:cs typeface="Calibri"/>
                <a:sym typeface="Calibri"/>
                <a:hlinkClick r:id="rId7">
                  <a:extLst>
                    <a:ext uri="{A12FA001-AC4F-418D-AE19-62706E023703}">
                      <ahyp:hlinkClr val="tx"/>
                    </a:ext>
                  </a:extLst>
                </a:hlinkClick>
              </a:rPr>
              <a:t>literature_review.pdf</a:t>
            </a:r>
            <a:endParaRPr b="0" i="0" sz="1400" u="none" cap="none" strike="noStrike">
              <a:solidFill>
                <a:schemeClr val="dk1"/>
              </a:solidFill>
              <a:latin typeface="Calibri"/>
              <a:ea typeface="Calibri"/>
              <a:cs typeface="Calibri"/>
              <a:sym typeface="Calibri"/>
            </a:endParaRPr>
          </a:p>
        </p:txBody>
      </p:sp>
      <p:sp>
        <p:nvSpPr>
          <p:cNvPr id="350" name="Google Shape;350;p11"/>
          <p:cNvSpPr/>
          <p:nvPr/>
        </p:nvSpPr>
        <p:spPr>
          <a:xfrm>
            <a:off x="8732520" y="1325880"/>
            <a:ext cx="2926080" cy="3520440"/>
          </a:xfrm>
          <a:prstGeom prst="roundRect">
            <a:avLst>
              <a:gd fmla="val 375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QR code linking to the Sentinel-RX live site" id="351" name="Google Shape;351;p11"/>
          <p:cNvPicPr preferRelativeResize="0"/>
          <p:nvPr/>
        </p:nvPicPr>
        <p:blipFill rotWithShape="1">
          <a:blip r:embed="rId8">
            <a:alphaModFix/>
          </a:blip>
          <a:srcRect b="0" l="0" r="0" t="0"/>
          <a:stretch/>
        </p:blipFill>
        <p:spPr>
          <a:xfrm>
            <a:off x="8961120" y="1508760"/>
            <a:ext cx="2468880" cy="2468880"/>
          </a:xfrm>
          <a:prstGeom prst="rect">
            <a:avLst/>
          </a:prstGeom>
          <a:noFill/>
          <a:ln>
            <a:noFill/>
          </a:ln>
        </p:spPr>
      </p:pic>
      <p:sp>
        <p:nvSpPr>
          <p:cNvPr id="352" name="Google Shape;352;p11"/>
          <p:cNvSpPr txBox="1"/>
          <p:nvPr/>
        </p:nvSpPr>
        <p:spPr>
          <a:xfrm>
            <a:off x="8915400" y="4114800"/>
            <a:ext cx="25603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Scan for the live demo site</a:t>
            </a:r>
            <a:endParaRPr b="0" i="0" sz="1300" u="none" cap="none" strike="noStrike">
              <a:solidFill>
                <a:schemeClr val="dk1"/>
              </a:solidFill>
              <a:latin typeface="Calibri"/>
              <a:ea typeface="Calibri"/>
              <a:cs typeface="Calibri"/>
              <a:sym typeface="Calibri"/>
            </a:endParaRPr>
          </a:p>
        </p:txBody>
      </p:sp>
      <p:sp>
        <p:nvSpPr>
          <p:cNvPr id="353" name="Google Shape;353;p11"/>
          <p:cNvSpPr txBox="1"/>
          <p:nvPr/>
        </p:nvSpPr>
        <p:spPr>
          <a:xfrm>
            <a:off x="548640" y="5257800"/>
            <a:ext cx="11091672"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[1] A. Alharbi, “Agentic Diagnosis and Recovery of Failing Systems: A Structured Literature Review of AIOps, LLM Agents, and Security-Aware Operations,” Oct. 2026.</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accent5"/>
              </a:buClr>
              <a:buSzPts val="1000"/>
              <a:buFont typeface="Calibri"/>
              <a:buNone/>
            </a:pPr>
            <a:r>
              <a:rPr b="0" i="0" lang="en-US" sz="1000" u="sng" cap="none" strike="noStrike">
                <a:solidFill>
                  <a:schemeClr val="accent5"/>
                </a:solidFill>
                <a:latin typeface="Calibri"/>
                <a:ea typeface="Calibri"/>
                <a:cs typeface="Calibri"/>
                <a:sym typeface="Calibri"/>
                <a:hlinkClick r:id="rId9">
                  <a:extLst>
                    <a:ext uri="{A12FA001-AC4F-418D-AE19-62706E023703}">
                      <ahyp:hlinkClr val="tx"/>
                    </a:ext>
                  </a:extLst>
                </a:hlinkClick>
              </a:rPr>
              <a:t>[2] A. Alharbi, “Periodicity-Based Triage of APT Command-and-Control Beaconing in Network Flows Using Machine Learning,” M.S. thesis, UNLV, 2026.</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[3] A. Alharbi, “Sentinel-RX: technical brief and technical report,” Oct. 2026.</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[4] S. Jha et al., “ITBench: Evaluating AI agents across diverse real-world IT automation tasks,” ICML, 2025.   [5] J. Xu et al., “OpenRCA: Can large language models locate the root cause of software failures?” ICLR, 2025.</a:t>
            </a:r>
            <a:endParaRPr b="0" i="0" sz="1000" u="none" cap="none" strike="noStrike">
              <a:solidFill>
                <a:schemeClr val="dk1"/>
              </a:solidFill>
              <a:latin typeface="Calibri"/>
              <a:ea typeface="Calibri"/>
              <a:cs typeface="Calibri"/>
              <a:sym typeface="Calibri"/>
            </a:endParaRPr>
          </a:p>
        </p:txBody>
      </p:sp>
      <p:sp>
        <p:nvSpPr>
          <p:cNvPr id="354" name="Google Shape;354;p11"/>
          <p:cNvSpPr txBox="1"/>
          <p:nvPr>
            <p:ph idx="4294967295" type="sldNum"/>
          </p:nvPr>
        </p:nvSpPr>
        <p:spPr>
          <a:xfrm>
            <a:off x="11155680" y="6400800"/>
            <a:ext cx="5029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entinel-RX Forest">
  <a:themeElements>
    <a:clrScheme name="Sentinel-RX Forest">
      <a:dk1>
        <a:srgbClr val="15291F"/>
      </a:dk1>
      <a:lt1>
        <a:srgbClr val="FFFFFF"/>
      </a:lt1>
      <a:dk2>
        <a:srgbClr val="0D3B2A"/>
      </a:dk2>
      <a:lt2>
        <a:srgbClr val="EDF5EF"/>
      </a:lt2>
      <a:accent1>
        <a:srgbClr val="1F7A4D"/>
      </a:accent1>
      <a:accent2>
        <a:srgbClr val="6FBF73"/>
      </a:accent2>
      <a:accent3>
        <a:srgbClr val="C8E86A"/>
      </a:accent3>
      <a:accent4>
        <a:srgbClr val="4F8A78"/>
      </a:accent4>
      <a:accent5>
        <a:srgbClr val="9DB1A6"/>
      </a:accent5>
      <a:accent6>
        <a:srgbClr val="C9822B"/>
      </a:accent6>
      <a:hlink>
        <a:srgbClr val="1F7A4D"/>
      </a:hlink>
      <a:folHlink>
        <a:srgbClr val="0D3B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ntinel-RX Forest">
  <a:themeElements>
    <a:clrScheme name="Sentinel-RX Forest">
      <a:dk1>
        <a:srgbClr val="15291F"/>
      </a:dk1>
      <a:lt1>
        <a:srgbClr val="FFFFFF"/>
      </a:lt1>
      <a:dk2>
        <a:srgbClr val="0D3B2A"/>
      </a:dk2>
      <a:lt2>
        <a:srgbClr val="EDF5EF"/>
      </a:lt2>
      <a:accent1>
        <a:srgbClr val="1F7A4D"/>
      </a:accent1>
      <a:accent2>
        <a:srgbClr val="6FBF73"/>
      </a:accent2>
      <a:accent3>
        <a:srgbClr val="C8E86A"/>
      </a:accent3>
      <a:accent4>
        <a:srgbClr val="4F8A78"/>
      </a:accent4>
      <a:accent5>
        <a:srgbClr val="9DB1A6"/>
      </a:accent5>
      <a:accent6>
        <a:srgbClr val="C9822B"/>
      </a:accent6>
      <a:hlink>
        <a:srgbClr val="1F7A4D"/>
      </a:hlink>
      <a:folHlink>
        <a:srgbClr val="0D3B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2026-10-30T16:44:39Z</dcterms:created>
  <dc:creator>Abdulrahman Alharbi</dc:creator>
</cp:coreProperties>
</file>